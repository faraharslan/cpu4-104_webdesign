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han Acram" userId="2dbb5632990c7bf3" providerId="LiveId" clId="{444E419A-D3DB-4F6C-B7EC-613D695C99C9}"/>
    <pc:docChg chg="custSel modSld">
      <pc:chgData name="Farhan Acram" userId="2dbb5632990c7bf3" providerId="LiveId" clId="{444E419A-D3DB-4F6C-B7EC-613D695C99C9}" dt="2026-07-30T14:12:14.966" v="49" actId="403"/>
      <pc:docMkLst>
        <pc:docMk/>
      </pc:docMkLst>
      <pc:sldChg chg="addSp delSp modSp mod">
        <pc:chgData name="Farhan Acram" userId="2dbb5632990c7bf3" providerId="LiveId" clId="{444E419A-D3DB-4F6C-B7EC-613D695C99C9}" dt="2026-07-30T14:12:14.966" v="49" actId="403"/>
        <pc:sldMkLst>
          <pc:docMk/>
          <pc:sldMk cId="1088498745" sldId="256"/>
        </pc:sldMkLst>
        <pc:spChg chg="mod">
          <ac:chgData name="Farhan Acram" userId="2dbb5632990c7bf3" providerId="LiveId" clId="{444E419A-D3DB-4F6C-B7EC-613D695C99C9}" dt="2026-07-30T14:10:47.342" v="42" actId="255"/>
          <ac:spMkLst>
            <pc:docMk/>
            <pc:sldMk cId="1088498745" sldId="256"/>
            <ac:spMk id="2" creationId="{AD1D363C-9347-453C-8273-FB8F702B67C8}"/>
          </ac:spMkLst>
        </pc:spChg>
        <pc:spChg chg="del mod">
          <ac:chgData name="Farhan Acram" userId="2dbb5632990c7bf3" providerId="LiveId" clId="{444E419A-D3DB-4F6C-B7EC-613D695C99C9}" dt="2026-07-30T14:11:59.332" v="47" actId="478"/>
          <ac:spMkLst>
            <pc:docMk/>
            <pc:sldMk cId="1088498745" sldId="256"/>
            <ac:spMk id="3" creationId="{DEA95E4C-916C-4136-AA99-6987E855E247}"/>
          </ac:spMkLst>
        </pc:spChg>
        <pc:spChg chg="mod">
          <ac:chgData name="Farhan Acram" userId="2dbb5632990c7bf3" providerId="LiveId" clId="{444E419A-D3DB-4F6C-B7EC-613D695C99C9}" dt="2026-07-30T14:12:14.966" v="49" actId="403"/>
          <ac:spMkLst>
            <pc:docMk/>
            <pc:sldMk cId="1088498745" sldId="256"/>
            <ac:spMk id="4" creationId="{FCC030D1-687F-44DB-B57C-7B77A5CCBCEC}"/>
          </ac:spMkLst>
        </pc:spChg>
        <pc:spChg chg="mod">
          <ac:chgData name="Farhan Acram" userId="2dbb5632990c7bf3" providerId="LiveId" clId="{444E419A-D3DB-4F6C-B7EC-613D695C99C9}" dt="2026-07-30T14:09:39.969" v="30" actId="14861"/>
          <ac:spMkLst>
            <pc:docMk/>
            <pc:sldMk cId="1088498745" sldId="256"/>
            <ac:spMk id="5" creationId="{7959DA7B-06F2-4F93-9D45-7AA82145F5E9}"/>
          </ac:spMkLst>
        </pc:spChg>
        <pc:picChg chg="add mod">
          <ac:chgData name="Farhan Acram" userId="2dbb5632990c7bf3" providerId="LiveId" clId="{444E419A-D3DB-4F6C-B7EC-613D695C99C9}" dt="2026-07-30T14:09:39.969" v="30" actId="14861"/>
          <ac:picMkLst>
            <pc:docMk/>
            <pc:sldMk cId="1088498745" sldId="256"/>
            <ac:picMk id="10" creationId="{7E4CEBC8-AFAD-40E1-E94B-73F5657890C9}"/>
          </ac:picMkLst>
        </pc:picChg>
        <pc:picChg chg="add mod">
          <ac:chgData name="Farhan Acram" userId="2dbb5632990c7bf3" providerId="LiveId" clId="{444E419A-D3DB-4F6C-B7EC-613D695C99C9}" dt="2026-07-30T14:12:08.925" v="48" actId="14100"/>
          <ac:picMkLst>
            <pc:docMk/>
            <pc:sldMk cId="1088498745" sldId="256"/>
            <ac:picMk id="12" creationId="{78FA6A54-716F-46DC-AC5D-3C66A162832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my name is Farah Arslan. My project is NovaVolt Electronics, a responsive online store for smartphones, laptops and accessories. I created it for CPU4104 using only HTML, CSS and JavaScript. I will show the customer journey, explain the main code simply and describe my testing and accessibility improvements.</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brief asked for a responsive e-commerce website. I included a home page, products page, product detail, cart, about and contact page. There are twelve products. The solution uses only the technologies taught on the module and does not use a database or framework.</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target user is a student or everyday shopper who wants to compare electronics without a confusing layout. I chose dark navy for trust, teal for important actions and pale backgrounds for contrast. Product names and prices are easy to scan, and button labels are familiar.</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uses separate folders for pages, CSS, JavaScript, images, evidence and documents. HTML provides structure. CSS provides design and responsive rules. JavaScript creates product cards and adds the cart and validation. Keeping these jobs separate made the work easier to understand.</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home page introduces the store with a clear headline and two main actions. Under the hero section it shows four featured products. The header and footer are consistent across the site, so visitors can reach Products or Cart quickly. I would demonstrate the home page here.</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Products page displays twelve items. JavaScript reads a products array and creates each card in the DOM. A user can type in the search box, choose a category or sort by price. Clicking View details opens the selected item and shows its description and feature list.</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Add to cart is clicked, JavaScript saves the product number and quantity in localStorage. The cart remains after refreshing the page. On the cart page, the user can increase, decrease or remove an item. Each action recalculates the subtotal, delivery and total.</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tested the design at desktop, tablet and mobile sizes. CSS Grid changes the number of product columns. At phone width, navigation is hidden until the menu button is pressed, and controls stack into one column. I also checked that there is no sideways scrolling.</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main accessibility improvements were stronger colour contrast and clearer form labels and errors. I also added a skip link, visible keyboard focus, alternative text, semantic landmarks and a reduced-motion rule. For SEO, each page has its own title and description, plus Open Graph information.</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tested navigation, twelve product cards, search, filters, product details, adding items, changing quantities, totals and both forms. I also tested three screen widths. The code uses small named functions, for example one reads the cart, another saves it and another calculates totals.</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taught me how HTML, CSS and JavaScript work together. The hardest part was keeping cart information correct on different pages. Using localStorage and reusable functions solved this. In future I would add a database, secure login and payment system, but those are outside this assignment.</a:t>
            </a:r>
          </a:p>
          <a:p>
            <a:endParaRPr/>
          </a:p>
          <a:p>
            <a:r>
              <a:t>[Sources]</a:t>
            </a:r>
          </a:p>
          <a:p>
            <a:r>
              <a:t>- CPU4104_Summative_Assignment.pdf (module brief supplied by the user)</a:t>
            </a:r>
          </a:p>
          <a:p>
            <a:r>
              <a:t>- NovaVolt Electronics project files and locally captured screenshots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C7E402D-35D8-444A-991E-B468CEB36171}"/>
              </a:ext>
            </a:extLst>
          </p:cNvPr>
          <p:cNvSpPr>
            <a:spLocks noGrp="1"/>
          </p:cNvSpPr>
          <p:nvPr/>
        </p:nvSpPr>
        <p:spPr>
          <a:xfrm>
            <a:off x="0" y="0"/>
            <a:ext cx="209550" cy="6858000"/>
          </a:xfrm>
          <a:prstGeom prst="rect">
            <a:avLst/>
          </a:prstGeom>
          <a:solidFill>
            <a:srgbClr val="F06C5B"/>
          </a:solidFill>
          <a:ln w="0">
            <a:noFill/>
            <a:prstDash val="solid"/>
          </a:ln>
        </p:spPr>
      </p:sp>
      <p:sp>
        <p:nvSpPr>
          <p:cNvPr id="2" name="Rectangle 1">
            <a:extLst>
              <a:ext uri="{FF2B5EF4-FFF2-40B4-BE49-F238E27FC236}">
                <a16:creationId xmlns:a16="http://schemas.microsoft.com/office/drawing/2014/main" id="{AD1D363C-9347-453C-8273-FB8F702B67C8}"/>
              </a:ext>
            </a:extLst>
          </p:cNvPr>
          <p:cNvSpPr>
            <a:spLocks noGrp="1"/>
          </p:cNvSpPr>
          <p:nvPr/>
        </p:nvSpPr>
        <p:spPr>
          <a:xfrm>
            <a:off x="723900" y="685799"/>
            <a:ext cx="4164402" cy="504825"/>
          </a:xfrm>
          <a:prstGeom prst="rect">
            <a:avLst/>
          </a:prstGeom>
          <a:noFill/>
          <a:ln w="0">
            <a:noFill/>
            <a:prstDash val="solid"/>
          </a:ln>
        </p:spPr>
        <p:txBody>
          <a:bodyPr/>
          <a:lstStyle/>
          <a:p>
            <a:pPr algn="l">
              <a:defRPr sz="1125" b="1">
                <a:solidFill>
                  <a:srgbClr val="F5B942"/>
                </a:solidFill>
              </a:defRPr>
            </a:pPr>
            <a:r>
              <a:rPr sz="2400" b="1" dirty="0">
                <a:solidFill>
                  <a:srgbClr val="F5B942"/>
                </a:solidFill>
              </a:rPr>
              <a:t>CPU4104 WEB DEVELOPMENT</a:t>
            </a:r>
          </a:p>
        </p:txBody>
      </p:sp>
      <p:sp>
        <p:nvSpPr>
          <p:cNvPr id="4" name="Rectangle 3">
            <a:extLst>
              <a:ext uri="{FF2B5EF4-FFF2-40B4-BE49-F238E27FC236}">
                <a16:creationId xmlns:a16="http://schemas.microsoft.com/office/drawing/2014/main" id="{FCC030D1-687F-44DB-B57C-7B77A5CCBCEC}"/>
              </a:ext>
            </a:extLst>
          </p:cNvPr>
          <p:cNvSpPr>
            <a:spLocks noGrp="1"/>
          </p:cNvSpPr>
          <p:nvPr/>
        </p:nvSpPr>
        <p:spPr>
          <a:xfrm>
            <a:off x="762000" y="3381375"/>
            <a:ext cx="5429250" cy="800100"/>
          </a:xfrm>
          <a:prstGeom prst="rect">
            <a:avLst/>
          </a:prstGeom>
          <a:noFill/>
          <a:ln w="0">
            <a:noFill/>
            <a:prstDash val="solid"/>
          </a:ln>
        </p:spPr>
        <p:txBody>
          <a:bodyPr/>
          <a:lstStyle/>
          <a:p>
            <a:pPr algn="l">
              <a:defRPr sz="1800" b="0">
                <a:solidFill>
                  <a:srgbClr val="D9EAF0"/>
                </a:solidFill>
              </a:defRPr>
            </a:pPr>
            <a:r>
              <a:rPr sz="2000" b="0" dirty="0">
                <a:solidFill>
                  <a:srgbClr val="D9EAF0"/>
                </a:solidFill>
              </a:rPr>
              <a:t>A responsive electronics store built with HTML, CSS and JavaScript</a:t>
            </a:r>
          </a:p>
        </p:txBody>
      </p:sp>
      <p:sp>
        <p:nvSpPr>
          <p:cNvPr id="5" name="Rectangle: Rounded Corners 4">
            <a:extLst>
              <a:ext uri="{FF2B5EF4-FFF2-40B4-BE49-F238E27FC236}">
                <a16:creationId xmlns:a16="http://schemas.microsoft.com/office/drawing/2014/main" id="{7959DA7B-06F2-4F93-9D45-7AA82145F5E9}"/>
              </a:ext>
            </a:extLst>
          </p:cNvPr>
          <p:cNvSpPr>
            <a:spLocks noGrp="1"/>
          </p:cNvSpPr>
          <p:nvPr/>
        </p:nvSpPr>
        <p:spPr>
          <a:xfrm>
            <a:off x="7124700" y="876300"/>
            <a:ext cx="4000500" cy="4762500"/>
          </a:xfrm>
          <a:prstGeom prst="roundRect">
            <a:avLst>
              <a:gd name="adj" fmla="val 5714"/>
            </a:avLst>
          </a:prstGeom>
          <a:solidFill>
            <a:srgbClr val="EAF7F5"/>
          </a:solidFill>
          <a:ln w="0">
            <a:noFill/>
            <a:prstDash val="solid"/>
          </a:ln>
          <a:effectLst>
            <a:glow rad="139700">
              <a:schemeClr val="accent1">
                <a:satMod val="175000"/>
                <a:alpha val="40000"/>
              </a:schemeClr>
            </a:glow>
            <a:outerShdw blurRad="50800" dist="38100" dir="5400000" algn="t" rotWithShape="0">
              <a:prstClr val="black">
                <a:alpha val="40000"/>
              </a:prstClr>
            </a:outerShdw>
          </a:effectLst>
        </p:spPr>
      </p:sp>
      <p:pic>
        <p:nvPicPr>
          <p:cNvPr id="14" name="Graphic 13"/>
          <p:cNvPicPr>
            <a:picLocks noChangeAspect="1"/>
          </p:cNvPicPr>
          <p:nvPr/>
        </p:nvPicPr>
        <p:blipFill>
          <a:blip r:embed="rId3">
            <a:extLst>
              <a:ext uri="{96DAC541-7B7A-43D3-8B79-37D633B846F1}">
                <asvg:svgBlip xmlns:asvg="http://schemas.microsoft.com/office/drawing/2016/SVG/main" r:embed="rId4"/>
              </a:ext>
            </a:extLst>
          </a:blip>
          <a:stretch/>
        </p:blipFill>
        <p:spPr>
          <a:xfrm>
            <a:off x="7477125" y="1190625"/>
            <a:ext cx="3333750" cy="4000500"/>
          </a:xfrm>
          <a:prstGeom prst="rect">
            <a:avLst/>
          </a:prstGeom>
        </p:spPr>
      </p:pic>
      <p:sp>
        <p:nvSpPr>
          <p:cNvPr id="7" name="Rectangle 6">
            <a:extLst>
              <a:ext uri="{FF2B5EF4-FFF2-40B4-BE49-F238E27FC236}">
                <a16:creationId xmlns:a16="http://schemas.microsoft.com/office/drawing/2014/main" id="{CD76EEC9-CD9B-4257-A65C-B19835741BA8}"/>
              </a:ext>
            </a:extLst>
          </p:cNvPr>
          <p:cNvSpPr>
            <a:spLocks noGrp="1"/>
          </p:cNvSpPr>
          <p:nvPr/>
        </p:nvSpPr>
        <p:spPr>
          <a:xfrm>
            <a:off x="762000" y="5505450"/>
            <a:ext cx="3333750" cy="342900"/>
          </a:xfrm>
          <a:prstGeom prst="rect">
            <a:avLst/>
          </a:prstGeom>
          <a:noFill/>
          <a:ln w="0">
            <a:noFill/>
            <a:prstDash val="solid"/>
          </a:ln>
        </p:spPr>
        <p:txBody>
          <a:bodyPr/>
          <a:lstStyle/>
          <a:p>
            <a:pPr algn="l">
              <a:defRPr sz="1500" b="1">
                <a:solidFill>
                  <a:srgbClr val="FFFFFF"/>
                </a:solidFill>
              </a:defRPr>
            </a:pPr>
            <a:r>
              <a:rPr sz="1500" b="1">
                <a:solidFill>
                  <a:srgbClr val="FFFFFF"/>
                </a:solidFill>
              </a:rPr>
              <a:t>FARAH ARSLAN</a:t>
            </a:r>
          </a:p>
        </p:txBody>
      </p:sp>
      <p:sp>
        <p:nvSpPr>
          <p:cNvPr id="8" name="Rectangle 7">
            <a:extLst>
              <a:ext uri="{FF2B5EF4-FFF2-40B4-BE49-F238E27FC236}">
                <a16:creationId xmlns:a16="http://schemas.microsoft.com/office/drawing/2014/main" id="{DEC90FB3-ED45-4F23-AF28-7BD0E6983BD4}"/>
              </a:ext>
            </a:extLst>
          </p:cNvPr>
          <p:cNvSpPr>
            <a:spLocks noGrp="1"/>
          </p:cNvSpPr>
          <p:nvPr/>
        </p:nvSpPr>
        <p:spPr>
          <a:xfrm>
            <a:off x="762000" y="5867400"/>
            <a:ext cx="3333750" cy="266700"/>
          </a:xfrm>
          <a:prstGeom prst="rect">
            <a:avLst/>
          </a:prstGeom>
          <a:noFill/>
          <a:ln w="0">
            <a:noFill/>
            <a:prstDash val="solid"/>
          </a:ln>
        </p:spPr>
        <p:txBody>
          <a:bodyPr/>
          <a:lstStyle/>
          <a:p>
            <a:pPr algn="l">
              <a:defRPr sz="1200" b="0">
                <a:solidFill>
                  <a:srgbClr val="B8CDD5"/>
                </a:solidFill>
              </a:defRPr>
            </a:pPr>
            <a:r>
              <a:rPr sz="1200" b="0">
                <a:solidFill>
                  <a:srgbClr val="B8CDD5"/>
                </a:solidFill>
              </a:rPr>
              <a:t>Student project presentation</a:t>
            </a:r>
          </a:p>
        </p:txBody>
      </p:sp>
      <p:pic>
        <p:nvPicPr>
          <p:cNvPr id="10" name="Picture 9">
            <a:extLst>
              <a:ext uri="{FF2B5EF4-FFF2-40B4-BE49-F238E27FC236}">
                <a16:creationId xmlns:a16="http://schemas.microsoft.com/office/drawing/2014/main" id="{7E4CEBC8-AFAD-40E1-E94B-73F5657890C9}"/>
              </a:ext>
            </a:extLst>
          </p:cNvPr>
          <p:cNvPicPr>
            <a:picLocks noChangeAspect="1"/>
          </p:cNvPicPr>
          <p:nvPr/>
        </p:nvPicPr>
        <p:blipFill>
          <a:blip r:embed="rId5"/>
          <a:stretch>
            <a:fillRect/>
          </a:stretch>
        </p:blipFill>
        <p:spPr>
          <a:xfrm>
            <a:off x="7131749" y="1326313"/>
            <a:ext cx="3993451" cy="3888015"/>
          </a:xfrm>
          <a:prstGeom prst="rect">
            <a:avLst/>
          </a:prstGeom>
          <a:effectLst>
            <a:glow rad="139700">
              <a:schemeClr val="accent1">
                <a:satMod val="175000"/>
                <a:alpha val="40000"/>
              </a:schemeClr>
            </a:glow>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78FA6A54-716F-46DC-AC5D-3C66A162832F}"/>
              </a:ext>
            </a:extLst>
          </p:cNvPr>
          <p:cNvPicPr>
            <a:picLocks noChangeAspect="1"/>
          </p:cNvPicPr>
          <p:nvPr/>
        </p:nvPicPr>
        <p:blipFill>
          <a:blip r:embed="rId6"/>
          <a:stretch>
            <a:fillRect/>
          </a:stretch>
        </p:blipFill>
        <p:spPr>
          <a:xfrm>
            <a:off x="800100" y="1457323"/>
            <a:ext cx="3723171" cy="969575"/>
          </a:xfrm>
          <a:prstGeom prst="rect">
            <a:avLst/>
          </a:prstGeom>
          <a:ln>
            <a:solidFill>
              <a:schemeClr val="accent4">
                <a:lumMod val="60000"/>
                <a:lumOff val="40000"/>
              </a:schemeClr>
            </a:solidFill>
          </a:ln>
          <a:effectLst>
            <a:glow rad="139700">
              <a:schemeClr val="accent4">
                <a:satMod val="175000"/>
                <a:alpha val="40000"/>
              </a:schemeClr>
            </a:glow>
            <a:outerShdw blurRad="50800" dist="38100" dir="10800000" algn="r" rotWithShape="0">
              <a:prstClr val="black">
                <a:alpha val="40000"/>
              </a:prstClr>
            </a:outerShdw>
          </a:effectLst>
        </p:spPr>
      </p:pic>
    </p:spTree>
    <p:extLst>
      <p:ext uri="{BB962C8B-B14F-4D97-AF65-F5344CB8AC3E}">
        <p14:creationId xmlns:p14="http://schemas.microsoft.com/office/powerpoint/2010/main" val="108849874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7521FC8-D2D0-4A18-ACE0-108BEEB5C631}"/>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THE BRIEF</a:t>
            </a:r>
          </a:p>
        </p:txBody>
      </p:sp>
      <p:sp>
        <p:nvSpPr>
          <p:cNvPr id="2" name="Rectangle 1">
            <a:extLst>
              <a:ext uri="{FF2B5EF4-FFF2-40B4-BE49-F238E27FC236}">
                <a16:creationId xmlns:a16="http://schemas.microsoft.com/office/drawing/2014/main" id="{7BE13064-C26C-4F0E-9534-B78EA9F8AC70}"/>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The project covers the complete front-end shopping journey</a:t>
            </a:r>
          </a:p>
        </p:txBody>
      </p:sp>
      <p:sp>
        <p:nvSpPr>
          <p:cNvPr id="3" name="Rectangle 2">
            <a:extLst>
              <a:ext uri="{FF2B5EF4-FFF2-40B4-BE49-F238E27FC236}">
                <a16:creationId xmlns:a16="http://schemas.microsoft.com/office/drawing/2014/main" id="{36F95ABE-39A7-49AC-825B-6AAE44AF913C}"/>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02</a:t>
            </a:r>
          </a:p>
        </p:txBody>
      </p:sp>
      <p:sp>
        <p:nvSpPr>
          <p:cNvPr id="4" name="Rectangle: Rounded Corners 3">
            <a:extLst>
              <a:ext uri="{FF2B5EF4-FFF2-40B4-BE49-F238E27FC236}">
                <a16:creationId xmlns:a16="http://schemas.microsoft.com/office/drawing/2014/main" id="{7DA0517C-5B91-4B87-B2E2-8B54291BC24B}"/>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F9FB9C69-8E24-4272-AB63-82EBCD25311C}"/>
              </a:ext>
            </a:extLst>
          </p:cNvPr>
          <p:cNvSpPr>
            <a:spLocks noGrp="1"/>
          </p:cNvSpPr>
          <p:nvPr/>
        </p:nvSpPr>
        <p:spPr>
          <a:xfrm>
            <a:off x="685800" y="1885950"/>
            <a:ext cx="3238500" cy="1428750"/>
          </a:xfrm>
          <a:prstGeom prst="roundRect">
            <a:avLst>
              <a:gd name="adj" fmla="val 10667"/>
            </a:avLst>
          </a:prstGeom>
          <a:solidFill>
            <a:srgbClr val="FFFFFF"/>
          </a:solidFill>
          <a:ln w="9525">
            <a:solidFill>
              <a:srgbClr val="CBD5E1"/>
            </a:solidFill>
            <a:prstDash val="solid"/>
          </a:ln>
        </p:spPr>
      </p:sp>
      <p:sp>
        <p:nvSpPr>
          <p:cNvPr id="6" name="Rectangle 5">
            <a:extLst>
              <a:ext uri="{FF2B5EF4-FFF2-40B4-BE49-F238E27FC236}">
                <a16:creationId xmlns:a16="http://schemas.microsoft.com/office/drawing/2014/main" id="{529D4446-FF6C-4D1B-B8A8-1296D0ED8138}"/>
              </a:ext>
            </a:extLst>
          </p:cNvPr>
          <p:cNvSpPr>
            <a:spLocks noGrp="1"/>
          </p:cNvSpPr>
          <p:nvPr/>
        </p:nvSpPr>
        <p:spPr>
          <a:xfrm>
            <a:off x="933450" y="2114550"/>
            <a:ext cx="857250" cy="590550"/>
          </a:xfrm>
          <a:prstGeom prst="rect">
            <a:avLst/>
          </a:prstGeom>
          <a:noFill/>
          <a:ln w="0">
            <a:noFill/>
            <a:prstDash val="solid"/>
          </a:ln>
        </p:spPr>
        <p:txBody>
          <a:bodyPr/>
          <a:lstStyle/>
          <a:p>
            <a:pPr algn="l">
              <a:defRPr sz="3300" b="1">
                <a:solidFill>
                  <a:srgbClr val="007C7A"/>
                </a:solidFill>
              </a:defRPr>
            </a:pPr>
            <a:r>
              <a:rPr sz="3300" b="1">
                <a:solidFill>
                  <a:srgbClr val="007C7A"/>
                </a:solidFill>
              </a:rPr>
              <a:t>6</a:t>
            </a:r>
          </a:p>
        </p:txBody>
      </p:sp>
      <p:sp>
        <p:nvSpPr>
          <p:cNvPr id="7" name="Rectangle 6">
            <a:extLst>
              <a:ext uri="{FF2B5EF4-FFF2-40B4-BE49-F238E27FC236}">
                <a16:creationId xmlns:a16="http://schemas.microsoft.com/office/drawing/2014/main" id="{07F04B5D-7F11-43A8-9AD8-D246103707AF}"/>
              </a:ext>
            </a:extLst>
          </p:cNvPr>
          <p:cNvSpPr>
            <a:spLocks noGrp="1"/>
          </p:cNvSpPr>
          <p:nvPr/>
        </p:nvSpPr>
        <p:spPr>
          <a:xfrm>
            <a:off x="933450" y="2781300"/>
            <a:ext cx="2667000" cy="342900"/>
          </a:xfrm>
          <a:prstGeom prst="rect">
            <a:avLst/>
          </a:prstGeom>
          <a:noFill/>
          <a:ln w="0">
            <a:noFill/>
            <a:prstDash val="solid"/>
          </a:ln>
        </p:spPr>
        <p:txBody>
          <a:bodyPr/>
          <a:lstStyle/>
          <a:p>
            <a:pPr algn="l">
              <a:defRPr sz="1425" b="1">
                <a:solidFill>
                  <a:srgbClr val="243B53"/>
                </a:solidFill>
              </a:defRPr>
            </a:pPr>
            <a:r>
              <a:rPr sz="1425" b="1">
                <a:solidFill>
                  <a:srgbClr val="243B53"/>
                </a:solidFill>
              </a:rPr>
              <a:t>customer-facing pages</a:t>
            </a:r>
          </a:p>
        </p:txBody>
      </p:sp>
      <p:sp>
        <p:nvSpPr>
          <p:cNvPr id="8" name="Rectangle: Rounded Corners 7">
            <a:extLst>
              <a:ext uri="{FF2B5EF4-FFF2-40B4-BE49-F238E27FC236}">
                <a16:creationId xmlns:a16="http://schemas.microsoft.com/office/drawing/2014/main" id="{95157D64-F45A-49C3-993A-D0A64D2EDBE5}"/>
              </a:ext>
            </a:extLst>
          </p:cNvPr>
          <p:cNvSpPr>
            <a:spLocks noGrp="1"/>
          </p:cNvSpPr>
          <p:nvPr/>
        </p:nvSpPr>
        <p:spPr>
          <a:xfrm>
            <a:off x="4286250" y="1885950"/>
            <a:ext cx="3238500" cy="1428750"/>
          </a:xfrm>
          <a:prstGeom prst="roundRect">
            <a:avLst>
              <a:gd name="adj" fmla="val 10667"/>
            </a:avLst>
          </a:prstGeom>
          <a:solidFill>
            <a:srgbClr val="102A43"/>
          </a:solidFill>
          <a:ln w="9525">
            <a:solidFill>
              <a:srgbClr val="CBD5E1"/>
            </a:solidFill>
            <a:prstDash val="solid"/>
          </a:ln>
        </p:spPr>
      </p:sp>
      <p:sp>
        <p:nvSpPr>
          <p:cNvPr id="9" name="Rectangle 8">
            <a:extLst>
              <a:ext uri="{FF2B5EF4-FFF2-40B4-BE49-F238E27FC236}">
                <a16:creationId xmlns:a16="http://schemas.microsoft.com/office/drawing/2014/main" id="{0E6273C9-6664-49A6-8DD7-DB424CC08E1C}"/>
              </a:ext>
            </a:extLst>
          </p:cNvPr>
          <p:cNvSpPr>
            <a:spLocks noGrp="1"/>
          </p:cNvSpPr>
          <p:nvPr/>
        </p:nvSpPr>
        <p:spPr>
          <a:xfrm>
            <a:off x="4533900" y="2114550"/>
            <a:ext cx="857250" cy="590550"/>
          </a:xfrm>
          <a:prstGeom prst="rect">
            <a:avLst/>
          </a:prstGeom>
          <a:noFill/>
          <a:ln w="0">
            <a:noFill/>
            <a:prstDash val="solid"/>
          </a:ln>
        </p:spPr>
        <p:txBody>
          <a:bodyPr/>
          <a:lstStyle/>
          <a:p>
            <a:pPr algn="l">
              <a:defRPr sz="3300" b="1">
                <a:solidFill>
                  <a:srgbClr val="FFFFFF"/>
                </a:solidFill>
              </a:defRPr>
            </a:pPr>
            <a:r>
              <a:rPr sz="3300" b="1">
                <a:solidFill>
                  <a:srgbClr val="FFFFFF"/>
                </a:solidFill>
              </a:rPr>
              <a:t>12</a:t>
            </a:r>
          </a:p>
        </p:txBody>
      </p:sp>
      <p:sp>
        <p:nvSpPr>
          <p:cNvPr id="10" name="Rectangle 9">
            <a:extLst>
              <a:ext uri="{FF2B5EF4-FFF2-40B4-BE49-F238E27FC236}">
                <a16:creationId xmlns:a16="http://schemas.microsoft.com/office/drawing/2014/main" id="{B79F30E0-E995-4B49-9C60-5B16AB1ECAD7}"/>
              </a:ext>
            </a:extLst>
          </p:cNvPr>
          <p:cNvSpPr>
            <a:spLocks noGrp="1"/>
          </p:cNvSpPr>
          <p:nvPr/>
        </p:nvSpPr>
        <p:spPr>
          <a:xfrm>
            <a:off x="4533900" y="2781300"/>
            <a:ext cx="2667000" cy="342900"/>
          </a:xfrm>
          <a:prstGeom prst="rect">
            <a:avLst/>
          </a:prstGeom>
          <a:noFill/>
          <a:ln w="0">
            <a:noFill/>
            <a:prstDash val="solid"/>
          </a:ln>
        </p:spPr>
        <p:txBody>
          <a:bodyPr/>
          <a:lstStyle/>
          <a:p>
            <a:pPr algn="l">
              <a:defRPr sz="1425" b="1">
                <a:solidFill>
                  <a:srgbClr val="D9EAF0"/>
                </a:solidFill>
              </a:defRPr>
            </a:pPr>
            <a:r>
              <a:rPr sz="1425" b="1">
                <a:solidFill>
                  <a:srgbClr val="D9EAF0"/>
                </a:solidFill>
              </a:rPr>
              <a:t>electronics products</a:t>
            </a:r>
          </a:p>
        </p:txBody>
      </p:sp>
      <p:sp>
        <p:nvSpPr>
          <p:cNvPr id="11" name="Rectangle: Rounded Corners 10">
            <a:extLst>
              <a:ext uri="{FF2B5EF4-FFF2-40B4-BE49-F238E27FC236}">
                <a16:creationId xmlns:a16="http://schemas.microsoft.com/office/drawing/2014/main" id="{974E4421-B707-4917-A381-B9F989AF0E88}"/>
              </a:ext>
            </a:extLst>
          </p:cNvPr>
          <p:cNvSpPr>
            <a:spLocks noGrp="1"/>
          </p:cNvSpPr>
          <p:nvPr/>
        </p:nvSpPr>
        <p:spPr>
          <a:xfrm>
            <a:off x="7886700" y="1885950"/>
            <a:ext cx="3238500" cy="1428750"/>
          </a:xfrm>
          <a:prstGeom prst="roundRect">
            <a:avLst>
              <a:gd name="adj" fmla="val 10667"/>
            </a:avLst>
          </a:prstGeom>
          <a:solidFill>
            <a:srgbClr val="FFFFFF"/>
          </a:solidFill>
          <a:ln w="9525">
            <a:solidFill>
              <a:srgbClr val="CBD5E1"/>
            </a:solidFill>
            <a:prstDash val="solid"/>
          </a:ln>
        </p:spPr>
      </p:sp>
      <p:sp>
        <p:nvSpPr>
          <p:cNvPr id="12" name="Rectangle 11">
            <a:extLst>
              <a:ext uri="{FF2B5EF4-FFF2-40B4-BE49-F238E27FC236}">
                <a16:creationId xmlns:a16="http://schemas.microsoft.com/office/drawing/2014/main" id="{EA19D967-0034-444D-AB5D-50AA8A083368}"/>
              </a:ext>
            </a:extLst>
          </p:cNvPr>
          <p:cNvSpPr>
            <a:spLocks noGrp="1"/>
          </p:cNvSpPr>
          <p:nvPr/>
        </p:nvSpPr>
        <p:spPr>
          <a:xfrm>
            <a:off x="8134350" y="2114550"/>
            <a:ext cx="857250" cy="590550"/>
          </a:xfrm>
          <a:prstGeom prst="rect">
            <a:avLst/>
          </a:prstGeom>
          <a:noFill/>
          <a:ln w="0">
            <a:noFill/>
            <a:prstDash val="solid"/>
          </a:ln>
        </p:spPr>
        <p:txBody>
          <a:bodyPr/>
          <a:lstStyle/>
          <a:p>
            <a:pPr algn="l">
              <a:defRPr sz="3300" b="1">
                <a:solidFill>
                  <a:srgbClr val="007C7A"/>
                </a:solidFill>
              </a:defRPr>
            </a:pPr>
            <a:r>
              <a:rPr sz="3300" b="1">
                <a:solidFill>
                  <a:srgbClr val="007C7A"/>
                </a:solidFill>
              </a:rPr>
              <a:t>3</a:t>
            </a:r>
          </a:p>
        </p:txBody>
      </p:sp>
      <p:sp>
        <p:nvSpPr>
          <p:cNvPr id="13" name="Rectangle 12">
            <a:extLst>
              <a:ext uri="{FF2B5EF4-FFF2-40B4-BE49-F238E27FC236}">
                <a16:creationId xmlns:a16="http://schemas.microsoft.com/office/drawing/2014/main" id="{C6251B12-DBFA-4739-9409-E54C99A44A12}"/>
              </a:ext>
            </a:extLst>
          </p:cNvPr>
          <p:cNvSpPr>
            <a:spLocks noGrp="1"/>
          </p:cNvSpPr>
          <p:nvPr/>
        </p:nvSpPr>
        <p:spPr>
          <a:xfrm>
            <a:off x="8134350" y="2781300"/>
            <a:ext cx="2667000" cy="342900"/>
          </a:xfrm>
          <a:prstGeom prst="rect">
            <a:avLst/>
          </a:prstGeom>
          <a:noFill/>
          <a:ln w="0">
            <a:noFill/>
            <a:prstDash val="solid"/>
          </a:ln>
        </p:spPr>
        <p:txBody>
          <a:bodyPr/>
          <a:lstStyle/>
          <a:p>
            <a:pPr algn="l">
              <a:defRPr sz="1425" b="1">
                <a:solidFill>
                  <a:srgbClr val="243B53"/>
                </a:solidFill>
              </a:defRPr>
            </a:pPr>
            <a:r>
              <a:rPr sz="1425" b="1">
                <a:solidFill>
                  <a:srgbClr val="243B53"/>
                </a:solidFill>
              </a:rPr>
              <a:t>core web technologies</a:t>
            </a:r>
          </a:p>
        </p:txBody>
      </p:sp>
      <p:sp>
        <p:nvSpPr>
          <p:cNvPr id="14" name="Rectangle: Rounded Corners 13">
            <a:extLst>
              <a:ext uri="{FF2B5EF4-FFF2-40B4-BE49-F238E27FC236}">
                <a16:creationId xmlns:a16="http://schemas.microsoft.com/office/drawing/2014/main" id="{B41B69A9-08B4-4C2B-BA45-95116A2FD514}"/>
              </a:ext>
            </a:extLst>
          </p:cNvPr>
          <p:cNvSpPr>
            <a:spLocks noGrp="1"/>
          </p:cNvSpPr>
          <p:nvPr/>
        </p:nvSpPr>
        <p:spPr>
          <a:xfrm>
            <a:off x="838200" y="3943350"/>
            <a:ext cx="85725" cy="85725"/>
          </a:xfrm>
          <a:prstGeom prst="roundRect">
            <a:avLst>
              <a:gd name="adj" fmla="val 50000"/>
            </a:avLst>
          </a:prstGeom>
          <a:solidFill>
            <a:srgbClr val="007C7A"/>
          </a:solidFill>
          <a:ln w="0">
            <a:noFill/>
            <a:prstDash val="solid"/>
          </a:ln>
        </p:spPr>
      </p:sp>
      <p:sp>
        <p:nvSpPr>
          <p:cNvPr id="15" name="Rectangle 14">
            <a:extLst>
              <a:ext uri="{FF2B5EF4-FFF2-40B4-BE49-F238E27FC236}">
                <a16:creationId xmlns:a16="http://schemas.microsoft.com/office/drawing/2014/main" id="{FE476CC6-455F-4646-BCFC-0DAF66484F06}"/>
              </a:ext>
            </a:extLst>
          </p:cNvPr>
          <p:cNvSpPr>
            <a:spLocks noGrp="1"/>
          </p:cNvSpPr>
          <p:nvPr/>
        </p:nvSpPr>
        <p:spPr>
          <a:xfrm>
            <a:off x="1066800" y="3857625"/>
            <a:ext cx="4724400" cy="552450"/>
          </a:xfrm>
          <a:prstGeom prst="rect">
            <a:avLst/>
          </a:prstGeom>
          <a:noFill/>
          <a:ln w="0">
            <a:noFill/>
            <a:prstDash val="solid"/>
          </a:ln>
        </p:spPr>
        <p:txBody>
          <a:bodyPr/>
          <a:lstStyle/>
          <a:p>
            <a:pPr algn="l">
              <a:defRPr sz="1575" b="0">
                <a:solidFill>
                  <a:srgbClr val="243B53"/>
                </a:solidFill>
              </a:defRPr>
            </a:pPr>
            <a:r>
              <a:rPr sz="1575" b="0">
                <a:solidFill>
                  <a:srgbClr val="243B53"/>
                </a:solidFill>
              </a:rPr>
              <a:t>Home, products, detail, cart, about and contact</a:t>
            </a:r>
          </a:p>
        </p:txBody>
      </p:sp>
      <p:sp>
        <p:nvSpPr>
          <p:cNvPr id="16" name="Rectangle: Rounded Corners 15">
            <a:extLst>
              <a:ext uri="{FF2B5EF4-FFF2-40B4-BE49-F238E27FC236}">
                <a16:creationId xmlns:a16="http://schemas.microsoft.com/office/drawing/2014/main" id="{9FCCF956-D180-4E84-A0D4-5ED2849E622D}"/>
              </a:ext>
            </a:extLst>
          </p:cNvPr>
          <p:cNvSpPr>
            <a:spLocks noGrp="1"/>
          </p:cNvSpPr>
          <p:nvPr/>
        </p:nvSpPr>
        <p:spPr>
          <a:xfrm>
            <a:off x="838200" y="4562475"/>
            <a:ext cx="85725" cy="85725"/>
          </a:xfrm>
          <a:prstGeom prst="roundRect">
            <a:avLst>
              <a:gd name="adj" fmla="val 50000"/>
            </a:avLst>
          </a:prstGeom>
          <a:solidFill>
            <a:srgbClr val="007C7A"/>
          </a:solidFill>
          <a:ln w="0">
            <a:noFill/>
            <a:prstDash val="solid"/>
          </a:ln>
        </p:spPr>
      </p:sp>
      <p:sp>
        <p:nvSpPr>
          <p:cNvPr id="17" name="Rectangle 16">
            <a:extLst>
              <a:ext uri="{FF2B5EF4-FFF2-40B4-BE49-F238E27FC236}">
                <a16:creationId xmlns:a16="http://schemas.microsoft.com/office/drawing/2014/main" id="{8F6644EE-CD64-4737-BBF6-0930652734B4}"/>
              </a:ext>
            </a:extLst>
          </p:cNvPr>
          <p:cNvSpPr>
            <a:spLocks noGrp="1"/>
          </p:cNvSpPr>
          <p:nvPr/>
        </p:nvSpPr>
        <p:spPr>
          <a:xfrm>
            <a:off x="1066800" y="4476750"/>
            <a:ext cx="4724400" cy="552450"/>
          </a:xfrm>
          <a:prstGeom prst="rect">
            <a:avLst/>
          </a:prstGeom>
          <a:noFill/>
          <a:ln w="0">
            <a:noFill/>
            <a:prstDash val="solid"/>
          </a:ln>
        </p:spPr>
        <p:txBody>
          <a:bodyPr/>
          <a:lstStyle/>
          <a:p>
            <a:pPr algn="l">
              <a:defRPr sz="1575" b="0">
                <a:solidFill>
                  <a:srgbClr val="243B53"/>
                </a:solidFill>
              </a:defRPr>
            </a:pPr>
            <a:r>
              <a:rPr sz="1575" b="0">
                <a:solidFill>
                  <a:srgbClr val="243B53"/>
                </a:solidFill>
              </a:rPr>
              <a:t>Responsive on desktop, tablet and mobile</a:t>
            </a:r>
          </a:p>
        </p:txBody>
      </p:sp>
      <p:sp>
        <p:nvSpPr>
          <p:cNvPr id="18" name="Rectangle: Rounded Corners 17">
            <a:extLst>
              <a:ext uri="{FF2B5EF4-FFF2-40B4-BE49-F238E27FC236}">
                <a16:creationId xmlns:a16="http://schemas.microsoft.com/office/drawing/2014/main" id="{89A06402-597C-4BB2-BE41-EA73E650700D}"/>
              </a:ext>
            </a:extLst>
          </p:cNvPr>
          <p:cNvSpPr>
            <a:spLocks noGrp="1"/>
          </p:cNvSpPr>
          <p:nvPr/>
        </p:nvSpPr>
        <p:spPr>
          <a:xfrm>
            <a:off x="6286500" y="3943350"/>
            <a:ext cx="85725" cy="85725"/>
          </a:xfrm>
          <a:prstGeom prst="roundRect">
            <a:avLst>
              <a:gd name="adj" fmla="val 50000"/>
            </a:avLst>
          </a:prstGeom>
          <a:solidFill>
            <a:srgbClr val="007C7A"/>
          </a:solidFill>
          <a:ln w="0">
            <a:noFill/>
            <a:prstDash val="solid"/>
          </a:ln>
        </p:spPr>
      </p:sp>
      <p:sp>
        <p:nvSpPr>
          <p:cNvPr id="19" name="Rectangle 18">
            <a:extLst>
              <a:ext uri="{FF2B5EF4-FFF2-40B4-BE49-F238E27FC236}">
                <a16:creationId xmlns:a16="http://schemas.microsoft.com/office/drawing/2014/main" id="{A16A7BEE-77CB-4E98-B92F-1AC0B9AFF7E6}"/>
              </a:ext>
            </a:extLst>
          </p:cNvPr>
          <p:cNvSpPr>
            <a:spLocks noGrp="1"/>
          </p:cNvSpPr>
          <p:nvPr/>
        </p:nvSpPr>
        <p:spPr>
          <a:xfrm>
            <a:off x="6515100" y="3857625"/>
            <a:ext cx="4629150" cy="552450"/>
          </a:xfrm>
          <a:prstGeom prst="rect">
            <a:avLst/>
          </a:prstGeom>
          <a:noFill/>
          <a:ln w="0">
            <a:noFill/>
            <a:prstDash val="solid"/>
          </a:ln>
        </p:spPr>
        <p:txBody>
          <a:bodyPr/>
          <a:lstStyle/>
          <a:p>
            <a:pPr algn="l">
              <a:defRPr sz="1575" b="0">
                <a:solidFill>
                  <a:srgbClr val="243B53"/>
                </a:solidFill>
              </a:defRPr>
            </a:pPr>
            <a:r>
              <a:rPr sz="1575" b="0">
                <a:solidFill>
                  <a:srgbClr val="243B53"/>
                </a:solidFill>
              </a:rPr>
              <a:t>No backend, framework or external library</a:t>
            </a:r>
          </a:p>
        </p:txBody>
      </p:sp>
      <p:sp>
        <p:nvSpPr>
          <p:cNvPr id="20" name="Rectangle: Rounded Corners 19">
            <a:extLst>
              <a:ext uri="{FF2B5EF4-FFF2-40B4-BE49-F238E27FC236}">
                <a16:creationId xmlns:a16="http://schemas.microsoft.com/office/drawing/2014/main" id="{88D72010-794F-44F7-A4DF-E94413C16AD7}"/>
              </a:ext>
            </a:extLst>
          </p:cNvPr>
          <p:cNvSpPr>
            <a:spLocks noGrp="1"/>
          </p:cNvSpPr>
          <p:nvPr/>
        </p:nvSpPr>
        <p:spPr>
          <a:xfrm>
            <a:off x="6286500" y="4562475"/>
            <a:ext cx="85725" cy="85725"/>
          </a:xfrm>
          <a:prstGeom prst="roundRect">
            <a:avLst>
              <a:gd name="adj" fmla="val 50000"/>
            </a:avLst>
          </a:prstGeom>
          <a:solidFill>
            <a:srgbClr val="007C7A"/>
          </a:solidFill>
          <a:ln w="0">
            <a:noFill/>
            <a:prstDash val="solid"/>
          </a:ln>
        </p:spPr>
      </p:sp>
      <p:sp>
        <p:nvSpPr>
          <p:cNvPr id="21" name="Rectangle 20">
            <a:extLst>
              <a:ext uri="{FF2B5EF4-FFF2-40B4-BE49-F238E27FC236}">
                <a16:creationId xmlns:a16="http://schemas.microsoft.com/office/drawing/2014/main" id="{BD01DCDD-8A02-4C1F-8165-6C7C34091C78}"/>
              </a:ext>
            </a:extLst>
          </p:cNvPr>
          <p:cNvSpPr>
            <a:spLocks noGrp="1"/>
          </p:cNvSpPr>
          <p:nvPr/>
        </p:nvSpPr>
        <p:spPr>
          <a:xfrm>
            <a:off x="6515100" y="4476750"/>
            <a:ext cx="4629150" cy="552450"/>
          </a:xfrm>
          <a:prstGeom prst="rect">
            <a:avLst/>
          </a:prstGeom>
          <a:noFill/>
          <a:ln w="0">
            <a:noFill/>
            <a:prstDash val="solid"/>
          </a:ln>
        </p:spPr>
        <p:txBody>
          <a:bodyPr/>
          <a:lstStyle/>
          <a:p>
            <a:pPr algn="l">
              <a:defRPr sz="1575" b="0">
                <a:solidFill>
                  <a:srgbClr val="243B53"/>
                </a:solidFill>
              </a:defRPr>
            </a:pPr>
            <a:r>
              <a:rPr sz="1575" b="0">
                <a:solidFill>
                  <a:srgbClr val="243B53"/>
                </a:solidFill>
              </a:rPr>
              <a:t>Designed so I can explain every main feature</a:t>
            </a:r>
          </a:p>
        </p:txBody>
      </p:sp>
      <p:sp>
        <p:nvSpPr>
          <p:cNvPr id="22" name="Rectangle 21">
            <a:extLst>
              <a:ext uri="{FF2B5EF4-FFF2-40B4-BE49-F238E27FC236}">
                <a16:creationId xmlns:a16="http://schemas.microsoft.com/office/drawing/2014/main" id="{73CDE924-E01C-4E9A-85CE-2EB5C605E3E0}"/>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23" name="Rectangle 22">
            <a:extLst>
              <a:ext uri="{FF2B5EF4-FFF2-40B4-BE49-F238E27FC236}">
                <a16:creationId xmlns:a16="http://schemas.microsoft.com/office/drawing/2014/main" id="{95B39234-47EE-4FD5-82EF-8CC6E9A7F81A}"/>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2113743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545930C-E1DA-40DA-ADA4-3902CA0B28B9}"/>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DESIGN CHOICES</a:t>
            </a:r>
          </a:p>
        </p:txBody>
      </p:sp>
      <p:sp>
        <p:nvSpPr>
          <p:cNvPr id="2" name="Rectangle 1">
            <a:extLst>
              <a:ext uri="{FF2B5EF4-FFF2-40B4-BE49-F238E27FC236}">
                <a16:creationId xmlns:a16="http://schemas.microsoft.com/office/drawing/2014/main" id="{66E1EA5F-99C3-48CC-BD20-68CD05EDF160}"/>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Clear choices help an everyday shopper move with confidence</a:t>
            </a:r>
          </a:p>
        </p:txBody>
      </p:sp>
      <p:sp>
        <p:nvSpPr>
          <p:cNvPr id="3" name="Rectangle 2">
            <a:extLst>
              <a:ext uri="{FF2B5EF4-FFF2-40B4-BE49-F238E27FC236}">
                <a16:creationId xmlns:a16="http://schemas.microsoft.com/office/drawing/2014/main" id="{A9EC618E-A81E-46B7-80BD-33BFC688EDBF}"/>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03</a:t>
            </a:r>
          </a:p>
        </p:txBody>
      </p:sp>
      <p:sp>
        <p:nvSpPr>
          <p:cNvPr id="4" name="Rectangle: Rounded Corners 3">
            <a:extLst>
              <a:ext uri="{FF2B5EF4-FFF2-40B4-BE49-F238E27FC236}">
                <a16:creationId xmlns:a16="http://schemas.microsoft.com/office/drawing/2014/main" id="{F839FAC9-B19F-4588-9F48-431778ECE113}"/>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476FD074-C841-4B7F-B7D1-E81CA9059DBC}"/>
              </a:ext>
            </a:extLst>
          </p:cNvPr>
          <p:cNvSpPr>
            <a:spLocks noGrp="1"/>
          </p:cNvSpPr>
          <p:nvPr/>
        </p:nvSpPr>
        <p:spPr>
          <a:xfrm>
            <a:off x="685800" y="1809750"/>
            <a:ext cx="4000500" cy="3905250"/>
          </a:xfrm>
          <a:prstGeom prst="roundRect">
            <a:avLst>
              <a:gd name="adj" fmla="val 5854"/>
            </a:avLst>
          </a:prstGeom>
          <a:solidFill>
            <a:srgbClr val="102A43"/>
          </a:solidFill>
          <a:ln w="0">
            <a:noFill/>
            <a:prstDash val="solid"/>
          </a:ln>
        </p:spPr>
      </p:sp>
      <p:sp>
        <p:nvSpPr>
          <p:cNvPr id="6" name="Rectangle 5">
            <a:extLst>
              <a:ext uri="{FF2B5EF4-FFF2-40B4-BE49-F238E27FC236}">
                <a16:creationId xmlns:a16="http://schemas.microsoft.com/office/drawing/2014/main" id="{CECE7136-1E95-4C7E-9000-15DCD7A08AF5}"/>
              </a:ext>
            </a:extLst>
          </p:cNvPr>
          <p:cNvSpPr>
            <a:spLocks noGrp="1"/>
          </p:cNvSpPr>
          <p:nvPr/>
        </p:nvSpPr>
        <p:spPr>
          <a:xfrm>
            <a:off x="1028700" y="2133600"/>
            <a:ext cx="3143250" cy="342900"/>
          </a:xfrm>
          <a:prstGeom prst="rect">
            <a:avLst/>
          </a:prstGeom>
          <a:noFill/>
          <a:ln w="0">
            <a:noFill/>
            <a:prstDash val="solid"/>
          </a:ln>
        </p:spPr>
        <p:txBody>
          <a:bodyPr/>
          <a:lstStyle/>
          <a:p>
            <a:pPr algn="l">
              <a:defRPr sz="1800" b="1">
                <a:solidFill>
                  <a:srgbClr val="F5B942"/>
                </a:solidFill>
              </a:defRPr>
            </a:pPr>
            <a:r>
              <a:rPr sz="1800" b="1">
                <a:solidFill>
                  <a:srgbClr val="F5B942"/>
                </a:solidFill>
              </a:rPr>
              <a:t>Target user</a:t>
            </a:r>
          </a:p>
        </p:txBody>
      </p:sp>
      <p:sp>
        <p:nvSpPr>
          <p:cNvPr id="7" name="Rectangle 6">
            <a:extLst>
              <a:ext uri="{FF2B5EF4-FFF2-40B4-BE49-F238E27FC236}">
                <a16:creationId xmlns:a16="http://schemas.microsoft.com/office/drawing/2014/main" id="{538ADD12-8DCD-4B10-B575-97AA55DD7136}"/>
              </a:ext>
            </a:extLst>
          </p:cNvPr>
          <p:cNvSpPr>
            <a:spLocks noGrp="1"/>
          </p:cNvSpPr>
          <p:nvPr/>
        </p:nvSpPr>
        <p:spPr>
          <a:xfrm>
            <a:off x="1028700" y="2686050"/>
            <a:ext cx="3105150" cy="1428750"/>
          </a:xfrm>
          <a:prstGeom prst="rect">
            <a:avLst/>
          </a:prstGeom>
          <a:noFill/>
          <a:ln w="0">
            <a:noFill/>
            <a:prstDash val="solid"/>
          </a:ln>
        </p:spPr>
        <p:txBody>
          <a:bodyPr/>
          <a:lstStyle/>
          <a:p>
            <a:pPr algn="l">
              <a:defRPr sz="1875" b="0">
                <a:solidFill>
                  <a:srgbClr val="FFFFFF"/>
                </a:solidFill>
              </a:defRPr>
            </a:pPr>
            <a:r>
              <a:rPr sz="1875" b="0">
                <a:solidFill>
                  <a:srgbClr val="FFFFFF"/>
                </a:solidFill>
              </a:rPr>
              <a:t>A student or everyday shopper who wants useful electronics information without a confusing interface.</a:t>
            </a:r>
          </a:p>
        </p:txBody>
      </p:sp>
      <p:sp>
        <p:nvSpPr>
          <p:cNvPr id="8" name="Rectangle 7">
            <a:extLst>
              <a:ext uri="{FF2B5EF4-FFF2-40B4-BE49-F238E27FC236}">
                <a16:creationId xmlns:a16="http://schemas.microsoft.com/office/drawing/2014/main" id="{05B15EF9-DAE9-418D-85F0-4D2BAF69F26D}"/>
              </a:ext>
            </a:extLst>
          </p:cNvPr>
          <p:cNvSpPr>
            <a:spLocks noGrp="1"/>
          </p:cNvSpPr>
          <p:nvPr/>
        </p:nvSpPr>
        <p:spPr>
          <a:xfrm>
            <a:off x="1028700" y="4857750"/>
            <a:ext cx="3048000" cy="285750"/>
          </a:xfrm>
          <a:prstGeom prst="rect">
            <a:avLst/>
          </a:prstGeom>
          <a:noFill/>
          <a:ln w="0">
            <a:noFill/>
            <a:prstDash val="solid"/>
          </a:ln>
        </p:spPr>
        <p:txBody>
          <a:bodyPr/>
          <a:lstStyle/>
          <a:p>
            <a:pPr algn="l">
              <a:defRPr sz="1425" b="1">
                <a:solidFill>
                  <a:srgbClr val="B8CDD5"/>
                </a:solidFill>
              </a:defRPr>
            </a:pPr>
            <a:r>
              <a:rPr sz="1425" b="1">
                <a:solidFill>
                  <a:srgbClr val="B8CDD5"/>
                </a:solidFill>
              </a:rPr>
              <a:t>Trust • clarity • speed</a:t>
            </a:r>
          </a:p>
        </p:txBody>
      </p:sp>
      <p:sp>
        <p:nvSpPr>
          <p:cNvPr id="9" name="Rectangle: Rounded Corners 8">
            <a:extLst>
              <a:ext uri="{FF2B5EF4-FFF2-40B4-BE49-F238E27FC236}">
                <a16:creationId xmlns:a16="http://schemas.microsoft.com/office/drawing/2014/main" id="{78616ABE-44E9-4483-BA65-2438BED95F08}"/>
              </a:ext>
            </a:extLst>
          </p:cNvPr>
          <p:cNvSpPr>
            <a:spLocks noGrp="1"/>
          </p:cNvSpPr>
          <p:nvPr/>
        </p:nvSpPr>
        <p:spPr>
          <a:xfrm>
            <a:off x="5286375" y="1952625"/>
            <a:ext cx="5762625" cy="914400"/>
          </a:xfrm>
          <a:prstGeom prst="roundRect">
            <a:avLst>
              <a:gd name="adj" fmla="val 12500"/>
            </a:avLst>
          </a:prstGeom>
          <a:solidFill>
            <a:srgbClr val="F4F8FA"/>
          </a:solidFill>
          <a:ln w="0">
            <a:noFill/>
            <a:prstDash val="solid"/>
          </a:ln>
        </p:spPr>
      </p:sp>
      <p:sp>
        <p:nvSpPr>
          <p:cNvPr id="10" name="Rectangle: Rounded Corners 9">
            <a:extLst>
              <a:ext uri="{FF2B5EF4-FFF2-40B4-BE49-F238E27FC236}">
                <a16:creationId xmlns:a16="http://schemas.microsoft.com/office/drawing/2014/main" id="{BD7BF580-7E5A-499D-B302-D8FBE66BA5D3}"/>
              </a:ext>
            </a:extLst>
          </p:cNvPr>
          <p:cNvSpPr>
            <a:spLocks noGrp="1"/>
          </p:cNvSpPr>
          <p:nvPr/>
        </p:nvSpPr>
        <p:spPr>
          <a:xfrm>
            <a:off x="5524500" y="2162175"/>
            <a:ext cx="495300" cy="495300"/>
          </a:xfrm>
          <a:prstGeom prst="roundRect">
            <a:avLst>
              <a:gd name="adj" fmla="val 50000"/>
            </a:avLst>
          </a:prstGeom>
          <a:solidFill>
            <a:srgbClr val="102A43"/>
          </a:solidFill>
          <a:ln w="0">
            <a:noFill/>
            <a:prstDash val="solid"/>
          </a:ln>
        </p:spPr>
      </p:sp>
      <p:sp>
        <p:nvSpPr>
          <p:cNvPr id="11" name="Rectangle 10">
            <a:extLst>
              <a:ext uri="{FF2B5EF4-FFF2-40B4-BE49-F238E27FC236}">
                <a16:creationId xmlns:a16="http://schemas.microsoft.com/office/drawing/2014/main" id="{84B35982-6BB9-4996-BA71-CBA289FD814F}"/>
              </a:ext>
            </a:extLst>
          </p:cNvPr>
          <p:cNvSpPr>
            <a:spLocks noGrp="1"/>
          </p:cNvSpPr>
          <p:nvPr/>
        </p:nvSpPr>
        <p:spPr>
          <a:xfrm>
            <a:off x="6267450" y="2105025"/>
            <a:ext cx="1714500" cy="304800"/>
          </a:xfrm>
          <a:prstGeom prst="rect">
            <a:avLst/>
          </a:prstGeom>
          <a:noFill/>
          <a:ln w="0">
            <a:noFill/>
            <a:prstDash val="solid"/>
          </a:ln>
        </p:spPr>
        <p:txBody>
          <a:bodyPr/>
          <a:lstStyle/>
          <a:p>
            <a:pPr algn="l">
              <a:defRPr sz="1650" b="1">
                <a:solidFill>
                  <a:srgbClr val="102A43"/>
                </a:solidFill>
              </a:defRPr>
            </a:pPr>
            <a:r>
              <a:rPr sz="1650" b="1">
                <a:solidFill>
                  <a:srgbClr val="102A43"/>
                </a:solidFill>
              </a:rPr>
              <a:t>Navy</a:t>
            </a:r>
          </a:p>
        </p:txBody>
      </p:sp>
      <p:sp>
        <p:nvSpPr>
          <p:cNvPr id="12" name="Rectangle 11">
            <a:extLst>
              <a:ext uri="{FF2B5EF4-FFF2-40B4-BE49-F238E27FC236}">
                <a16:creationId xmlns:a16="http://schemas.microsoft.com/office/drawing/2014/main" id="{6D87B345-51D8-44BC-80BF-CBA22F2EEBAF}"/>
              </a:ext>
            </a:extLst>
          </p:cNvPr>
          <p:cNvSpPr>
            <a:spLocks noGrp="1"/>
          </p:cNvSpPr>
          <p:nvPr/>
        </p:nvSpPr>
        <p:spPr>
          <a:xfrm>
            <a:off x="6267450" y="2438400"/>
            <a:ext cx="4095750" cy="247650"/>
          </a:xfrm>
          <a:prstGeom prst="rect">
            <a:avLst/>
          </a:prstGeom>
          <a:noFill/>
          <a:ln w="0">
            <a:noFill/>
            <a:prstDash val="solid"/>
          </a:ln>
        </p:spPr>
        <p:txBody>
          <a:bodyPr/>
          <a:lstStyle/>
          <a:p>
            <a:pPr algn="l">
              <a:defRPr sz="1350" b="0">
                <a:solidFill>
                  <a:srgbClr val="627D98"/>
                </a:solidFill>
              </a:defRPr>
            </a:pPr>
            <a:r>
              <a:rPr sz="1350" b="0">
                <a:solidFill>
                  <a:srgbClr val="627D98"/>
                </a:solidFill>
              </a:rPr>
              <a:t>trust and readable text</a:t>
            </a:r>
          </a:p>
        </p:txBody>
      </p:sp>
      <p:sp>
        <p:nvSpPr>
          <p:cNvPr id="13" name="Rectangle: Rounded Corners 12">
            <a:extLst>
              <a:ext uri="{FF2B5EF4-FFF2-40B4-BE49-F238E27FC236}">
                <a16:creationId xmlns:a16="http://schemas.microsoft.com/office/drawing/2014/main" id="{775C54FD-E3B5-41AF-9A94-005FB1769E15}"/>
              </a:ext>
            </a:extLst>
          </p:cNvPr>
          <p:cNvSpPr>
            <a:spLocks noGrp="1"/>
          </p:cNvSpPr>
          <p:nvPr/>
        </p:nvSpPr>
        <p:spPr>
          <a:xfrm>
            <a:off x="5286375" y="3133725"/>
            <a:ext cx="5762625" cy="914400"/>
          </a:xfrm>
          <a:prstGeom prst="roundRect">
            <a:avLst>
              <a:gd name="adj" fmla="val 12500"/>
            </a:avLst>
          </a:prstGeom>
          <a:solidFill>
            <a:srgbClr val="F4F8FA"/>
          </a:solidFill>
          <a:ln w="0">
            <a:noFill/>
            <a:prstDash val="solid"/>
          </a:ln>
        </p:spPr>
      </p:sp>
      <p:sp>
        <p:nvSpPr>
          <p:cNvPr id="14" name="Rectangle: Rounded Corners 13">
            <a:extLst>
              <a:ext uri="{FF2B5EF4-FFF2-40B4-BE49-F238E27FC236}">
                <a16:creationId xmlns:a16="http://schemas.microsoft.com/office/drawing/2014/main" id="{096AC96A-7265-476D-B9EB-6A493C81214F}"/>
              </a:ext>
            </a:extLst>
          </p:cNvPr>
          <p:cNvSpPr>
            <a:spLocks noGrp="1"/>
          </p:cNvSpPr>
          <p:nvPr/>
        </p:nvSpPr>
        <p:spPr>
          <a:xfrm>
            <a:off x="5524500" y="3343275"/>
            <a:ext cx="495300" cy="495300"/>
          </a:xfrm>
          <a:prstGeom prst="roundRect">
            <a:avLst>
              <a:gd name="adj" fmla="val 50000"/>
            </a:avLst>
          </a:prstGeom>
          <a:solidFill>
            <a:srgbClr val="007C7A"/>
          </a:solidFill>
          <a:ln w="0">
            <a:noFill/>
            <a:prstDash val="solid"/>
          </a:ln>
        </p:spPr>
      </p:sp>
      <p:sp>
        <p:nvSpPr>
          <p:cNvPr id="15" name="Rectangle 14">
            <a:extLst>
              <a:ext uri="{FF2B5EF4-FFF2-40B4-BE49-F238E27FC236}">
                <a16:creationId xmlns:a16="http://schemas.microsoft.com/office/drawing/2014/main" id="{6651DAD0-4682-48B9-8CA6-D4940A42BE55}"/>
              </a:ext>
            </a:extLst>
          </p:cNvPr>
          <p:cNvSpPr>
            <a:spLocks noGrp="1"/>
          </p:cNvSpPr>
          <p:nvPr/>
        </p:nvSpPr>
        <p:spPr>
          <a:xfrm>
            <a:off x="6267450" y="3286125"/>
            <a:ext cx="1714500" cy="304800"/>
          </a:xfrm>
          <a:prstGeom prst="rect">
            <a:avLst/>
          </a:prstGeom>
          <a:noFill/>
          <a:ln w="0">
            <a:noFill/>
            <a:prstDash val="solid"/>
          </a:ln>
        </p:spPr>
        <p:txBody>
          <a:bodyPr/>
          <a:lstStyle/>
          <a:p>
            <a:pPr algn="l">
              <a:defRPr sz="1650" b="1">
                <a:solidFill>
                  <a:srgbClr val="102A43"/>
                </a:solidFill>
              </a:defRPr>
            </a:pPr>
            <a:r>
              <a:rPr sz="1650" b="1">
                <a:solidFill>
                  <a:srgbClr val="102A43"/>
                </a:solidFill>
              </a:rPr>
              <a:t>Teal</a:t>
            </a:r>
          </a:p>
        </p:txBody>
      </p:sp>
      <p:sp>
        <p:nvSpPr>
          <p:cNvPr id="16" name="Rectangle 15">
            <a:extLst>
              <a:ext uri="{FF2B5EF4-FFF2-40B4-BE49-F238E27FC236}">
                <a16:creationId xmlns:a16="http://schemas.microsoft.com/office/drawing/2014/main" id="{78AC15D3-72EB-4449-BC34-9563E252B27D}"/>
              </a:ext>
            </a:extLst>
          </p:cNvPr>
          <p:cNvSpPr>
            <a:spLocks noGrp="1"/>
          </p:cNvSpPr>
          <p:nvPr/>
        </p:nvSpPr>
        <p:spPr>
          <a:xfrm>
            <a:off x="6267450" y="3619500"/>
            <a:ext cx="4095750" cy="247650"/>
          </a:xfrm>
          <a:prstGeom prst="rect">
            <a:avLst/>
          </a:prstGeom>
          <a:noFill/>
          <a:ln w="0">
            <a:noFill/>
            <a:prstDash val="solid"/>
          </a:ln>
        </p:spPr>
        <p:txBody>
          <a:bodyPr/>
          <a:lstStyle/>
          <a:p>
            <a:pPr algn="l">
              <a:defRPr sz="1350" b="0">
                <a:solidFill>
                  <a:srgbClr val="627D98"/>
                </a:solidFill>
              </a:defRPr>
            </a:pPr>
            <a:r>
              <a:rPr sz="1350" b="0">
                <a:solidFill>
                  <a:srgbClr val="627D98"/>
                </a:solidFill>
              </a:rPr>
              <a:t>important actions</a:t>
            </a:r>
          </a:p>
        </p:txBody>
      </p:sp>
      <p:sp>
        <p:nvSpPr>
          <p:cNvPr id="17" name="Rectangle: Rounded Corners 16">
            <a:extLst>
              <a:ext uri="{FF2B5EF4-FFF2-40B4-BE49-F238E27FC236}">
                <a16:creationId xmlns:a16="http://schemas.microsoft.com/office/drawing/2014/main" id="{B3697933-840B-4AD8-B906-ED1C7E874A12}"/>
              </a:ext>
            </a:extLst>
          </p:cNvPr>
          <p:cNvSpPr>
            <a:spLocks noGrp="1"/>
          </p:cNvSpPr>
          <p:nvPr/>
        </p:nvSpPr>
        <p:spPr>
          <a:xfrm>
            <a:off x="5286375" y="4314825"/>
            <a:ext cx="5762625" cy="914400"/>
          </a:xfrm>
          <a:prstGeom prst="roundRect">
            <a:avLst>
              <a:gd name="adj" fmla="val 12500"/>
            </a:avLst>
          </a:prstGeom>
          <a:solidFill>
            <a:srgbClr val="F4F8FA"/>
          </a:solidFill>
          <a:ln w="0">
            <a:noFill/>
            <a:prstDash val="solid"/>
          </a:ln>
        </p:spPr>
      </p:sp>
      <p:sp>
        <p:nvSpPr>
          <p:cNvPr id="18" name="Rectangle: Rounded Corners 17">
            <a:extLst>
              <a:ext uri="{FF2B5EF4-FFF2-40B4-BE49-F238E27FC236}">
                <a16:creationId xmlns:a16="http://schemas.microsoft.com/office/drawing/2014/main" id="{16E477E4-ED73-4ABC-9CB1-A3A14B0CA357}"/>
              </a:ext>
            </a:extLst>
          </p:cNvPr>
          <p:cNvSpPr>
            <a:spLocks noGrp="1"/>
          </p:cNvSpPr>
          <p:nvPr/>
        </p:nvSpPr>
        <p:spPr>
          <a:xfrm>
            <a:off x="5524500" y="4524375"/>
            <a:ext cx="495300" cy="495300"/>
          </a:xfrm>
          <a:prstGeom prst="roundRect">
            <a:avLst>
              <a:gd name="adj" fmla="val 50000"/>
            </a:avLst>
          </a:prstGeom>
          <a:solidFill>
            <a:srgbClr val="EAF7F5"/>
          </a:solidFill>
          <a:ln w="0">
            <a:noFill/>
            <a:prstDash val="solid"/>
          </a:ln>
        </p:spPr>
      </p:sp>
      <p:sp>
        <p:nvSpPr>
          <p:cNvPr id="19" name="Rectangle 18">
            <a:extLst>
              <a:ext uri="{FF2B5EF4-FFF2-40B4-BE49-F238E27FC236}">
                <a16:creationId xmlns:a16="http://schemas.microsoft.com/office/drawing/2014/main" id="{41176C9B-0415-4967-8ED0-417B2EC828BA}"/>
              </a:ext>
            </a:extLst>
          </p:cNvPr>
          <p:cNvSpPr>
            <a:spLocks noGrp="1"/>
          </p:cNvSpPr>
          <p:nvPr/>
        </p:nvSpPr>
        <p:spPr>
          <a:xfrm>
            <a:off x="6267450" y="4467225"/>
            <a:ext cx="1714500" cy="304800"/>
          </a:xfrm>
          <a:prstGeom prst="rect">
            <a:avLst/>
          </a:prstGeom>
          <a:noFill/>
          <a:ln w="0">
            <a:noFill/>
            <a:prstDash val="solid"/>
          </a:ln>
        </p:spPr>
        <p:txBody>
          <a:bodyPr/>
          <a:lstStyle/>
          <a:p>
            <a:pPr algn="l">
              <a:defRPr sz="1650" b="1">
                <a:solidFill>
                  <a:srgbClr val="102A43"/>
                </a:solidFill>
              </a:defRPr>
            </a:pPr>
            <a:r>
              <a:rPr sz="1650" b="1">
                <a:solidFill>
                  <a:srgbClr val="102A43"/>
                </a:solidFill>
              </a:rPr>
              <a:t>Pale mint</a:t>
            </a:r>
          </a:p>
        </p:txBody>
      </p:sp>
      <p:sp>
        <p:nvSpPr>
          <p:cNvPr id="20" name="Rectangle 19">
            <a:extLst>
              <a:ext uri="{FF2B5EF4-FFF2-40B4-BE49-F238E27FC236}">
                <a16:creationId xmlns:a16="http://schemas.microsoft.com/office/drawing/2014/main" id="{460D0CF9-D83C-4FDB-A09E-CB5619F5B453}"/>
              </a:ext>
            </a:extLst>
          </p:cNvPr>
          <p:cNvSpPr>
            <a:spLocks noGrp="1"/>
          </p:cNvSpPr>
          <p:nvPr/>
        </p:nvSpPr>
        <p:spPr>
          <a:xfrm>
            <a:off x="6267450" y="4800600"/>
            <a:ext cx="4095750" cy="247650"/>
          </a:xfrm>
          <a:prstGeom prst="rect">
            <a:avLst/>
          </a:prstGeom>
          <a:noFill/>
          <a:ln w="0">
            <a:noFill/>
            <a:prstDash val="solid"/>
          </a:ln>
        </p:spPr>
        <p:txBody>
          <a:bodyPr/>
          <a:lstStyle/>
          <a:p>
            <a:pPr algn="l">
              <a:defRPr sz="1350" b="0">
                <a:solidFill>
                  <a:srgbClr val="627D98"/>
                </a:solidFill>
              </a:defRPr>
            </a:pPr>
            <a:r>
              <a:rPr sz="1350" b="0">
                <a:solidFill>
                  <a:srgbClr val="627D98"/>
                </a:solidFill>
              </a:rPr>
              <a:t>calm content areas</a:t>
            </a:r>
          </a:p>
        </p:txBody>
      </p:sp>
      <p:sp>
        <p:nvSpPr>
          <p:cNvPr id="21" name="Rectangle 20">
            <a:extLst>
              <a:ext uri="{FF2B5EF4-FFF2-40B4-BE49-F238E27FC236}">
                <a16:creationId xmlns:a16="http://schemas.microsoft.com/office/drawing/2014/main" id="{46D1E215-914F-4DC3-B6B4-26199574CE03}"/>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22" name="Rectangle 21">
            <a:extLst>
              <a:ext uri="{FF2B5EF4-FFF2-40B4-BE49-F238E27FC236}">
                <a16:creationId xmlns:a16="http://schemas.microsoft.com/office/drawing/2014/main" id="{36FE8EC9-BE2A-419D-943E-F84F644B52A3}"/>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1013551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FADFC35-D965-473B-AC42-E617E8948BBC}"/>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PROJECT STRUCTURE</a:t>
            </a:r>
          </a:p>
        </p:txBody>
      </p:sp>
      <p:sp>
        <p:nvSpPr>
          <p:cNvPr id="2" name="Rectangle 1">
            <a:extLst>
              <a:ext uri="{FF2B5EF4-FFF2-40B4-BE49-F238E27FC236}">
                <a16:creationId xmlns:a16="http://schemas.microsoft.com/office/drawing/2014/main" id="{70B9CFF2-8A94-451C-BF77-764AFC6980BF}"/>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Each technology has one simple job</a:t>
            </a:r>
          </a:p>
        </p:txBody>
      </p:sp>
      <p:sp>
        <p:nvSpPr>
          <p:cNvPr id="3" name="Rectangle 2">
            <a:extLst>
              <a:ext uri="{FF2B5EF4-FFF2-40B4-BE49-F238E27FC236}">
                <a16:creationId xmlns:a16="http://schemas.microsoft.com/office/drawing/2014/main" id="{4258C690-F5F2-447A-AE82-D1DA8CE4E239}"/>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04</a:t>
            </a:r>
          </a:p>
        </p:txBody>
      </p:sp>
      <p:sp>
        <p:nvSpPr>
          <p:cNvPr id="4" name="Rectangle: Rounded Corners 3">
            <a:extLst>
              <a:ext uri="{FF2B5EF4-FFF2-40B4-BE49-F238E27FC236}">
                <a16:creationId xmlns:a16="http://schemas.microsoft.com/office/drawing/2014/main" id="{E5310324-510C-410F-98AE-30D5F593C427}"/>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497023FE-E9F7-428E-A998-5D7D1698CA20}"/>
              </a:ext>
            </a:extLst>
          </p:cNvPr>
          <p:cNvSpPr>
            <a:spLocks noGrp="1"/>
          </p:cNvSpPr>
          <p:nvPr/>
        </p:nvSpPr>
        <p:spPr>
          <a:xfrm>
            <a:off x="685800" y="1828800"/>
            <a:ext cx="3238500" cy="3143250"/>
          </a:xfrm>
          <a:prstGeom prst="roundRect">
            <a:avLst>
              <a:gd name="adj" fmla="val 4848"/>
            </a:avLst>
          </a:prstGeom>
          <a:solidFill>
            <a:srgbClr val="FFFFFF"/>
          </a:solidFill>
          <a:ln w="9525">
            <a:solidFill>
              <a:srgbClr val="CBD5E1"/>
            </a:solidFill>
            <a:prstDash val="solid"/>
          </a:ln>
        </p:spPr>
      </p:sp>
      <p:sp>
        <p:nvSpPr>
          <p:cNvPr id="6" name="Rectangle: Rounded Corners 5">
            <a:extLst>
              <a:ext uri="{FF2B5EF4-FFF2-40B4-BE49-F238E27FC236}">
                <a16:creationId xmlns:a16="http://schemas.microsoft.com/office/drawing/2014/main" id="{FAC18C84-6985-4D47-BA76-4ED41F5904FE}"/>
              </a:ext>
            </a:extLst>
          </p:cNvPr>
          <p:cNvSpPr>
            <a:spLocks noGrp="1"/>
          </p:cNvSpPr>
          <p:nvPr/>
        </p:nvSpPr>
        <p:spPr>
          <a:xfrm>
            <a:off x="685800" y="1828800"/>
            <a:ext cx="3238500" cy="133350"/>
          </a:xfrm>
          <a:prstGeom prst="roundRect">
            <a:avLst>
              <a:gd name="adj" fmla="val 50000"/>
            </a:avLst>
          </a:prstGeom>
          <a:solidFill>
            <a:srgbClr val="F06C5B"/>
          </a:solidFill>
          <a:ln w="0">
            <a:noFill/>
            <a:prstDash val="solid"/>
          </a:ln>
        </p:spPr>
      </p:sp>
      <p:sp>
        <p:nvSpPr>
          <p:cNvPr id="7" name="Rectangle 6">
            <a:extLst>
              <a:ext uri="{FF2B5EF4-FFF2-40B4-BE49-F238E27FC236}">
                <a16:creationId xmlns:a16="http://schemas.microsoft.com/office/drawing/2014/main" id="{8E688D90-10EB-4BCE-957B-CA49D17FA4D0}"/>
              </a:ext>
            </a:extLst>
          </p:cNvPr>
          <p:cNvSpPr>
            <a:spLocks noGrp="1"/>
          </p:cNvSpPr>
          <p:nvPr/>
        </p:nvSpPr>
        <p:spPr>
          <a:xfrm>
            <a:off x="952500" y="2247900"/>
            <a:ext cx="2667000" cy="400050"/>
          </a:xfrm>
          <a:prstGeom prst="rect">
            <a:avLst/>
          </a:prstGeom>
          <a:noFill/>
          <a:ln w="0">
            <a:noFill/>
            <a:prstDash val="solid"/>
          </a:ln>
        </p:spPr>
        <p:txBody>
          <a:bodyPr/>
          <a:lstStyle/>
          <a:p>
            <a:pPr algn="l">
              <a:defRPr sz="2250" b="1">
                <a:solidFill>
                  <a:srgbClr val="F06C5B"/>
                </a:solidFill>
              </a:defRPr>
            </a:pPr>
            <a:r>
              <a:rPr sz="2250" b="1">
                <a:solidFill>
                  <a:srgbClr val="F06C5B"/>
                </a:solidFill>
              </a:rPr>
              <a:t>HTML</a:t>
            </a:r>
          </a:p>
        </p:txBody>
      </p:sp>
      <p:sp>
        <p:nvSpPr>
          <p:cNvPr id="8" name="Rectangle 7">
            <a:extLst>
              <a:ext uri="{FF2B5EF4-FFF2-40B4-BE49-F238E27FC236}">
                <a16:creationId xmlns:a16="http://schemas.microsoft.com/office/drawing/2014/main" id="{6432D97F-CD37-4697-91DA-15B06E4F0B48}"/>
              </a:ext>
            </a:extLst>
          </p:cNvPr>
          <p:cNvSpPr>
            <a:spLocks noGrp="1"/>
          </p:cNvSpPr>
          <p:nvPr/>
        </p:nvSpPr>
        <p:spPr>
          <a:xfrm>
            <a:off x="952500" y="2857500"/>
            <a:ext cx="2667000" cy="323850"/>
          </a:xfrm>
          <a:prstGeom prst="rect">
            <a:avLst/>
          </a:prstGeom>
          <a:noFill/>
          <a:ln w="0">
            <a:noFill/>
            <a:prstDash val="solid"/>
          </a:ln>
        </p:spPr>
        <p:txBody>
          <a:bodyPr/>
          <a:lstStyle/>
          <a:p>
            <a:pPr algn="l">
              <a:defRPr sz="1650" b="1">
                <a:solidFill>
                  <a:srgbClr val="102A43"/>
                </a:solidFill>
              </a:defRPr>
            </a:pPr>
            <a:r>
              <a:rPr sz="1650" b="1">
                <a:solidFill>
                  <a:srgbClr val="102A43"/>
                </a:solidFill>
              </a:rPr>
              <a:t>Page structure</a:t>
            </a:r>
          </a:p>
        </p:txBody>
      </p:sp>
      <p:sp>
        <p:nvSpPr>
          <p:cNvPr id="9" name="Rectangle 8">
            <a:extLst>
              <a:ext uri="{FF2B5EF4-FFF2-40B4-BE49-F238E27FC236}">
                <a16:creationId xmlns:a16="http://schemas.microsoft.com/office/drawing/2014/main" id="{5C7D05A9-D2BA-4C98-BD60-DFE2F3EF5F93}"/>
              </a:ext>
            </a:extLst>
          </p:cNvPr>
          <p:cNvSpPr>
            <a:spLocks noGrp="1"/>
          </p:cNvSpPr>
          <p:nvPr/>
        </p:nvSpPr>
        <p:spPr>
          <a:xfrm>
            <a:off x="952500" y="3467100"/>
            <a:ext cx="2667000" cy="952500"/>
          </a:xfrm>
          <a:prstGeom prst="rect">
            <a:avLst/>
          </a:prstGeom>
          <a:noFill/>
          <a:ln w="0">
            <a:noFill/>
            <a:prstDash val="solid"/>
          </a:ln>
        </p:spPr>
        <p:txBody>
          <a:bodyPr/>
          <a:lstStyle/>
          <a:p>
            <a:pPr algn="l">
              <a:defRPr sz="1500" b="0">
                <a:solidFill>
                  <a:srgbClr val="627D98"/>
                </a:solidFill>
              </a:defRPr>
            </a:pPr>
            <a:r>
              <a:rPr sz="1500" b="0">
                <a:solidFill>
                  <a:srgbClr val="627D98"/>
                </a:solidFill>
              </a:rPr>
              <a:t>Headings, navigation,</a:t>
            </a:r>
          </a:p>
          <a:p>
            <a:pPr algn="l">
              <a:defRPr sz="1500" b="0">
                <a:solidFill>
                  <a:srgbClr val="627D98"/>
                </a:solidFill>
              </a:defRPr>
            </a:pPr>
            <a:r>
              <a:rPr sz="1500" b="0">
                <a:solidFill>
                  <a:srgbClr val="627D98"/>
                </a:solidFill>
              </a:rPr>
              <a:t>product areas and forms</a:t>
            </a:r>
          </a:p>
        </p:txBody>
      </p:sp>
      <p:sp>
        <p:nvSpPr>
          <p:cNvPr id="10" name="Rectangle: Rounded Corners 9">
            <a:extLst>
              <a:ext uri="{FF2B5EF4-FFF2-40B4-BE49-F238E27FC236}">
                <a16:creationId xmlns:a16="http://schemas.microsoft.com/office/drawing/2014/main" id="{7F5D9953-0492-48A0-857E-E416A840CEBB}"/>
              </a:ext>
            </a:extLst>
          </p:cNvPr>
          <p:cNvSpPr>
            <a:spLocks noGrp="1"/>
          </p:cNvSpPr>
          <p:nvPr/>
        </p:nvSpPr>
        <p:spPr>
          <a:xfrm>
            <a:off x="4286250" y="1828800"/>
            <a:ext cx="3238500" cy="3143250"/>
          </a:xfrm>
          <a:prstGeom prst="roundRect">
            <a:avLst>
              <a:gd name="adj" fmla="val 4848"/>
            </a:avLst>
          </a:prstGeom>
          <a:solidFill>
            <a:srgbClr val="FFFFFF"/>
          </a:solidFill>
          <a:ln w="9525">
            <a:solidFill>
              <a:srgbClr val="CBD5E1"/>
            </a:solidFill>
            <a:prstDash val="solid"/>
          </a:ln>
        </p:spPr>
      </p:sp>
      <p:sp>
        <p:nvSpPr>
          <p:cNvPr id="11" name="Rectangle: Rounded Corners 10">
            <a:extLst>
              <a:ext uri="{FF2B5EF4-FFF2-40B4-BE49-F238E27FC236}">
                <a16:creationId xmlns:a16="http://schemas.microsoft.com/office/drawing/2014/main" id="{24A5F458-7FCE-45D4-9F6A-E9FA42D000B4}"/>
              </a:ext>
            </a:extLst>
          </p:cNvPr>
          <p:cNvSpPr>
            <a:spLocks noGrp="1"/>
          </p:cNvSpPr>
          <p:nvPr/>
        </p:nvSpPr>
        <p:spPr>
          <a:xfrm>
            <a:off x="4286250" y="1828800"/>
            <a:ext cx="3238500" cy="133350"/>
          </a:xfrm>
          <a:prstGeom prst="roundRect">
            <a:avLst>
              <a:gd name="adj" fmla="val 50000"/>
            </a:avLst>
          </a:prstGeom>
          <a:solidFill>
            <a:srgbClr val="007C7A"/>
          </a:solidFill>
          <a:ln w="0">
            <a:noFill/>
            <a:prstDash val="solid"/>
          </a:ln>
        </p:spPr>
      </p:sp>
      <p:sp>
        <p:nvSpPr>
          <p:cNvPr id="12" name="Rectangle 11">
            <a:extLst>
              <a:ext uri="{FF2B5EF4-FFF2-40B4-BE49-F238E27FC236}">
                <a16:creationId xmlns:a16="http://schemas.microsoft.com/office/drawing/2014/main" id="{D222C5C8-36B0-4BA4-B7DD-8EF0AF53E7C1}"/>
              </a:ext>
            </a:extLst>
          </p:cNvPr>
          <p:cNvSpPr>
            <a:spLocks noGrp="1"/>
          </p:cNvSpPr>
          <p:nvPr/>
        </p:nvSpPr>
        <p:spPr>
          <a:xfrm>
            <a:off x="4552950" y="2247900"/>
            <a:ext cx="2667000" cy="400050"/>
          </a:xfrm>
          <a:prstGeom prst="rect">
            <a:avLst/>
          </a:prstGeom>
          <a:noFill/>
          <a:ln w="0">
            <a:noFill/>
            <a:prstDash val="solid"/>
          </a:ln>
        </p:spPr>
        <p:txBody>
          <a:bodyPr/>
          <a:lstStyle/>
          <a:p>
            <a:pPr algn="l">
              <a:defRPr sz="2250" b="1">
                <a:solidFill>
                  <a:srgbClr val="007C7A"/>
                </a:solidFill>
              </a:defRPr>
            </a:pPr>
            <a:r>
              <a:rPr sz="2250" b="1">
                <a:solidFill>
                  <a:srgbClr val="007C7A"/>
                </a:solidFill>
              </a:rPr>
              <a:t>CSS</a:t>
            </a:r>
          </a:p>
        </p:txBody>
      </p:sp>
      <p:sp>
        <p:nvSpPr>
          <p:cNvPr id="13" name="Rectangle 12">
            <a:extLst>
              <a:ext uri="{FF2B5EF4-FFF2-40B4-BE49-F238E27FC236}">
                <a16:creationId xmlns:a16="http://schemas.microsoft.com/office/drawing/2014/main" id="{47437D11-2C4B-4A4C-9079-49DB7840749C}"/>
              </a:ext>
            </a:extLst>
          </p:cNvPr>
          <p:cNvSpPr>
            <a:spLocks noGrp="1"/>
          </p:cNvSpPr>
          <p:nvPr/>
        </p:nvSpPr>
        <p:spPr>
          <a:xfrm>
            <a:off x="4552950" y="2857500"/>
            <a:ext cx="2667000" cy="323850"/>
          </a:xfrm>
          <a:prstGeom prst="rect">
            <a:avLst/>
          </a:prstGeom>
          <a:noFill/>
          <a:ln w="0">
            <a:noFill/>
            <a:prstDash val="solid"/>
          </a:ln>
        </p:spPr>
        <p:txBody>
          <a:bodyPr/>
          <a:lstStyle/>
          <a:p>
            <a:pPr algn="l">
              <a:defRPr sz="1650" b="1">
                <a:solidFill>
                  <a:srgbClr val="102A43"/>
                </a:solidFill>
              </a:defRPr>
            </a:pPr>
            <a:r>
              <a:rPr sz="1650" b="1">
                <a:solidFill>
                  <a:srgbClr val="102A43"/>
                </a:solidFill>
              </a:rPr>
              <a:t>Visual design</a:t>
            </a:r>
          </a:p>
        </p:txBody>
      </p:sp>
      <p:sp>
        <p:nvSpPr>
          <p:cNvPr id="14" name="Rectangle 13">
            <a:extLst>
              <a:ext uri="{FF2B5EF4-FFF2-40B4-BE49-F238E27FC236}">
                <a16:creationId xmlns:a16="http://schemas.microsoft.com/office/drawing/2014/main" id="{7AFD1974-6293-493C-9747-31B656970950}"/>
              </a:ext>
            </a:extLst>
          </p:cNvPr>
          <p:cNvSpPr>
            <a:spLocks noGrp="1"/>
          </p:cNvSpPr>
          <p:nvPr/>
        </p:nvSpPr>
        <p:spPr>
          <a:xfrm>
            <a:off x="4552950" y="3467100"/>
            <a:ext cx="2667000" cy="952500"/>
          </a:xfrm>
          <a:prstGeom prst="rect">
            <a:avLst/>
          </a:prstGeom>
          <a:noFill/>
          <a:ln w="0">
            <a:noFill/>
            <a:prstDash val="solid"/>
          </a:ln>
        </p:spPr>
        <p:txBody>
          <a:bodyPr/>
          <a:lstStyle/>
          <a:p>
            <a:pPr algn="l">
              <a:defRPr sz="1500" b="0">
                <a:solidFill>
                  <a:srgbClr val="627D98"/>
                </a:solidFill>
              </a:defRPr>
            </a:pPr>
            <a:r>
              <a:rPr sz="1500" b="0">
                <a:solidFill>
                  <a:srgbClr val="627D98"/>
                </a:solidFill>
              </a:rPr>
              <a:t>Colour, spacing, grid</a:t>
            </a:r>
          </a:p>
          <a:p>
            <a:pPr algn="l">
              <a:defRPr sz="1500" b="0">
                <a:solidFill>
                  <a:srgbClr val="627D98"/>
                </a:solidFill>
              </a:defRPr>
            </a:pPr>
            <a:r>
              <a:rPr sz="1500" b="0">
                <a:solidFill>
                  <a:srgbClr val="627D98"/>
                </a:solidFill>
              </a:rPr>
              <a:t>and responsive rules</a:t>
            </a:r>
          </a:p>
        </p:txBody>
      </p:sp>
      <p:sp>
        <p:nvSpPr>
          <p:cNvPr id="15" name="Rectangle: Rounded Corners 14">
            <a:extLst>
              <a:ext uri="{FF2B5EF4-FFF2-40B4-BE49-F238E27FC236}">
                <a16:creationId xmlns:a16="http://schemas.microsoft.com/office/drawing/2014/main" id="{B267AE37-3386-408D-AA33-EA426FF380A7}"/>
              </a:ext>
            </a:extLst>
          </p:cNvPr>
          <p:cNvSpPr>
            <a:spLocks noGrp="1"/>
          </p:cNvSpPr>
          <p:nvPr/>
        </p:nvSpPr>
        <p:spPr>
          <a:xfrm>
            <a:off x="7886700" y="1828800"/>
            <a:ext cx="3238500" cy="3143250"/>
          </a:xfrm>
          <a:prstGeom prst="roundRect">
            <a:avLst>
              <a:gd name="adj" fmla="val 4848"/>
            </a:avLst>
          </a:prstGeom>
          <a:solidFill>
            <a:srgbClr val="FFFFFF"/>
          </a:solidFill>
          <a:ln w="9525">
            <a:solidFill>
              <a:srgbClr val="CBD5E1"/>
            </a:solidFill>
            <a:prstDash val="solid"/>
          </a:ln>
        </p:spPr>
      </p:sp>
      <p:sp>
        <p:nvSpPr>
          <p:cNvPr id="16" name="Rectangle: Rounded Corners 15">
            <a:extLst>
              <a:ext uri="{FF2B5EF4-FFF2-40B4-BE49-F238E27FC236}">
                <a16:creationId xmlns:a16="http://schemas.microsoft.com/office/drawing/2014/main" id="{794D8639-6A7F-4E40-B677-E44FF8F8259D}"/>
              </a:ext>
            </a:extLst>
          </p:cNvPr>
          <p:cNvSpPr>
            <a:spLocks noGrp="1"/>
          </p:cNvSpPr>
          <p:nvPr/>
        </p:nvSpPr>
        <p:spPr>
          <a:xfrm>
            <a:off x="7886700" y="1828800"/>
            <a:ext cx="3238500" cy="133350"/>
          </a:xfrm>
          <a:prstGeom prst="roundRect">
            <a:avLst>
              <a:gd name="adj" fmla="val 50000"/>
            </a:avLst>
          </a:prstGeom>
          <a:solidFill>
            <a:srgbClr val="102A43"/>
          </a:solidFill>
          <a:ln w="0">
            <a:noFill/>
            <a:prstDash val="solid"/>
          </a:ln>
        </p:spPr>
      </p:sp>
      <p:sp>
        <p:nvSpPr>
          <p:cNvPr id="17" name="Rectangle 16">
            <a:extLst>
              <a:ext uri="{FF2B5EF4-FFF2-40B4-BE49-F238E27FC236}">
                <a16:creationId xmlns:a16="http://schemas.microsoft.com/office/drawing/2014/main" id="{5045E4CB-2386-40AB-B516-571406E86B0E}"/>
              </a:ext>
            </a:extLst>
          </p:cNvPr>
          <p:cNvSpPr>
            <a:spLocks noGrp="1"/>
          </p:cNvSpPr>
          <p:nvPr/>
        </p:nvSpPr>
        <p:spPr>
          <a:xfrm>
            <a:off x="8153400" y="2247900"/>
            <a:ext cx="2667000" cy="400050"/>
          </a:xfrm>
          <a:prstGeom prst="rect">
            <a:avLst/>
          </a:prstGeom>
          <a:noFill/>
          <a:ln w="0">
            <a:noFill/>
            <a:prstDash val="solid"/>
          </a:ln>
        </p:spPr>
        <p:txBody>
          <a:bodyPr/>
          <a:lstStyle/>
          <a:p>
            <a:pPr algn="l">
              <a:defRPr sz="2250" b="1">
                <a:solidFill>
                  <a:srgbClr val="102A43"/>
                </a:solidFill>
              </a:defRPr>
            </a:pPr>
            <a:r>
              <a:rPr sz="2250" b="1">
                <a:solidFill>
                  <a:srgbClr val="102A43"/>
                </a:solidFill>
              </a:rPr>
              <a:t>JavaScript</a:t>
            </a:r>
          </a:p>
        </p:txBody>
      </p:sp>
      <p:sp>
        <p:nvSpPr>
          <p:cNvPr id="18" name="Rectangle 17">
            <a:extLst>
              <a:ext uri="{FF2B5EF4-FFF2-40B4-BE49-F238E27FC236}">
                <a16:creationId xmlns:a16="http://schemas.microsoft.com/office/drawing/2014/main" id="{9204DF21-B10A-4B03-96AD-E80F5D327B4E}"/>
              </a:ext>
            </a:extLst>
          </p:cNvPr>
          <p:cNvSpPr>
            <a:spLocks noGrp="1"/>
          </p:cNvSpPr>
          <p:nvPr/>
        </p:nvSpPr>
        <p:spPr>
          <a:xfrm>
            <a:off x="8153400" y="2857500"/>
            <a:ext cx="2667000" cy="323850"/>
          </a:xfrm>
          <a:prstGeom prst="rect">
            <a:avLst/>
          </a:prstGeom>
          <a:noFill/>
          <a:ln w="0">
            <a:noFill/>
            <a:prstDash val="solid"/>
          </a:ln>
        </p:spPr>
        <p:txBody>
          <a:bodyPr/>
          <a:lstStyle/>
          <a:p>
            <a:pPr algn="l">
              <a:defRPr sz="1650" b="1">
                <a:solidFill>
                  <a:srgbClr val="102A43"/>
                </a:solidFill>
              </a:defRPr>
            </a:pPr>
            <a:r>
              <a:rPr sz="1650" b="1">
                <a:solidFill>
                  <a:srgbClr val="102A43"/>
                </a:solidFill>
              </a:rPr>
              <a:t>Interaction</a:t>
            </a:r>
          </a:p>
        </p:txBody>
      </p:sp>
      <p:sp>
        <p:nvSpPr>
          <p:cNvPr id="19" name="Rectangle 18">
            <a:extLst>
              <a:ext uri="{FF2B5EF4-FFF2-40B4-BE49-F238E27FC236}">
                <a16:creationId xmlns:a16="http://schemas.microsoft.com/office/drawing/2014/main" id="{7C37E870-FD08-4134-B6F7-9F625F0CF2E0}"/>
              </a:ext>
            </a:extLst>
          </p:cNvPr>
          <p:cNvSpPr>
            <a:spLocks noGrp="1"/>
          </p:cNvSpPr>
          <p:nvPr/>
        </p:nvSpPr>
        <p:spPr>
          <a:xfrm>
            <a:off x="8153400" y="3467100"/>
            <a:ext cx="2667000" cy="952500"/>
          </a:xfrm>
          <a:prstGeom prst="rect">
            <a:avLst/>
          </a:prstGeom>
          <a:noFill/>
          <a:ln w="0">
            <a:noFill/>
            <a:prstDash val="solid"/>
          </a:ln>
        </p:spPr>
        <p:txBody>
          <a:bodyPr/>
          <a:lstStyle/>
          <a:p>
            <a:pPr algn="l">
              <a:defRPr sz="1500" b="0">
                <a:solidFill>
                  <a:srgbClr val="627D98"/>
                </a:solidFill>
              </a:defRPr>
            </a:pPr>
            <a:r>
              <a:rPr sz="1500" b="0">
                <a:solidFill>
                  <a:srgbClr val="627D98"/>
                </a:solidFill>
              </a:rPr>
              <a:t>DOM rendering, filters,</a:t>
            </a:r>
          </a:p>
          <a:p>
            <a:pPr algn="l">
              <a:defRPr sz="1500" b="0">
                <a:solidFill>
                  <a:srgbClr val="627D98"/>
                </a:solidFill>
              </a:defRPr>
            </a:pPr>
            <a:r>
              <a:rPr sz="1500" b="0">
                <a:solidFill>
                  <a:srgbClr val="627D98"/>
                </a:solidFill>
              </a:rPr>
              <a:t>cart and validation</a:t>
            </a:r>
          </a:p>
        </p:txBody>
      </p:sp>
      <p:sp>
        <p:nvSpPr>
          <p:cNvPr id="20" name="Rectangle 19">
            <a:extLst>
              <a:ext uri="{FF2B5EF4-FFF2-40B4-BE49-F238E27FC236}">
                <a16:creationId xmlns:a16="http://schemas.microsoft.com/office/drawing/2014/main" id="{C4A426A4-843B-4062-AAE4-D11465872AC8}"/>
              </a:ext>
            </a:extLst>
          </p:cNvPr>
          <p:cNvSpPr>
            <a:spLocks noGrp="1"/>
          </p:cNvSpPr>
          <p:nvPr/>
        </p:nvSpPr>
        <p:spPr>
          <a:xfrm>
            <a:off x="685800" y="5476875"/>
            <a:ext cx="10820400" cy="342900"/>
          </a:xfrm>
          <a:prstGeom prst="rect">
            <a:avLst/>
          </a:prstGeom>
          <a:noFill/>
          <a:ln w="0">
            <a:noFill/>
            <a:prstDash val="solid"/>
          </a:ln>
        </p:spPr>
        <p:txBody>
          <a:bodyPr/>
          <a:lstStyle/>
          <a:p>
            <a:pPr algn="ctr">
              <a:defRPr sz="1650" b="1">
                <a:solidFill>
                  <a:srgbClr val="007C7A"/>
                </a:solidFill>
              </a:defRPr>
            </a:pPr>
            <a:r>
              <a:rPr sz="1650" b="1">
                <a:solidFill>
                  <a:srgbClr val="007C7A"/>
                </a:solidFill>
              </a:rPr>
              <a:t>pages / css / js / media / evidence / docs</a:t>
            </a:r>
          </a:p>
        </p:txBody>
      </p:sp>
      <p:sp>
        <p:nvSpPr>
          <p:cNvPr id="21" name="Rectangle 20">
            <a:extLst>
              <a:ext uri="{FF2B5EF4-FFF2-40B4-BE49-F238E27FC236}">
                <a16:creationId xmlns:a16="http://schemas.microsoft.com/office/drawing/2014/main" id="{1D3E9874-3415-4B47-97AB-29FC068B6E4E}"/>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22" name="Rectangle 21">
            <a:extLst>
              <a:ext uri="{FF2B5EF4-FFF2-40B4-BE49-F238E27FC236}">
                <a16:creationId xmlns:a16="http://schemas.microsoft.com/office/drawing/2014/main" id="{25112199-7D2C-4244-BC1A-439F2EE45D90}"/>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6868332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E69A3A1-31CB-4307-B3DE-5B634C97D32E}"/>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HOME PAGE</a:t>
            </a:r>
          </a:p>
        </p:txBody>
      </p:sp>
      <p:sp>
        <p:nvSpPr>
          <p:cNvPr id="2" name="Rectangle 1">
            <a:extLst>
              <a:ext uri="{FF2B5EF4-FFF2-40B4-BE49-F238E27FC236}">
                <a16:creationId xmlns:a16="http://schemas.microsoft.com/office/drawing/2014/main" id="{D967DA5E-7DD8-4EAD-A6F8-6D7C0F9ACF28}"/>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The first screen gives the visitor a clear next step</a:t>
            </a:r>
          </a:p>
        </p:txBody>
      </p:sp>
      <p:sp>
        <p:nvSpPr>
          <p:cNvPr id="3" name="Rectangle 2">
            <a:extLst>
              <a:ext uri="{FF2B5EF4-FFF2-40B4-BE49-F238E27FC236}">
                <a16:creationId xmlns:a16="http://schemas.microsoft.com/office/drawing/2014/main" id="{412661D2-2778-4D67-AF6A-D1ED590B4236}"/>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05</a:t>
            </a:r>
          </a:p>
        </p:txBody>
      </p:sp>
      <p:sp>
        <p:nvSpPr>
          <p:cNvPr id="4" name="Rectangle: Rounded Corners 3">
            <a:extLst>
              <a:ext uri="{FF2B5EF4-FFF2-40B4-BE49-F238E27FC236}">
                <a16:creationId xmlns:a16="http://schemas.microsoft.com/office/drawing/2014/main" id="{2D5FA1B2-0C2B-4FA2-A8F9-35C26A0AD0B6}"/>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945B03D8-7C18-47FD-9277-857F834AC555}"/>
              </a:ext>
            </a:extLst>
          </p:cNvPr>
          <p:cNvSpPr>
            <a:spLocks noGrp="1"/>
          </p:cNvSpPr>
          <p:nvPr/>
        </p:nvSpPr>
        <p:spPr>
          <a:xfrm>
            <a:off x="590550" y="1619250"/>
            <a:ext cx="7048500" cy="4476750"/>
          </a:xfrm>
          <a:prstGeom prst="roundRect">
            <a:avLst>
              <a:gd name="adj" fmla="val 3404"/>
            </a:avLst>
          </a:prstGeom>
          <a:solidFill>
            <a:srgbClr val="FFFFFF"/>
          </a:solidFill>
          <a:ln w="9525">
            <a:solidFill>
              <a:srgbClr val="CBD5E1"/>
            </a:solidFill>
            <a:prstDash val="solid"/>
          </a:ln>
        </p:spPr>
      </p:sp>
      <p:pic>
        <p:nvPicPr>
          <p:cNvPr id="23" name="Picture 22"/>
          <p:cNvPicPr>
            <a:picLocks noChangeAspect="1"/>
          </p:cNvPicPr>
          <p:nvPr/>
        </p:nvPicPr>
        <p:blipFill>
          <a:blip r:embed="rId3"/>
          <a:srcRect t="36090" b="36090"/>
          <a:stretch>
            <a:fillRect/>
          </a:stretch>
        </p:blipFill>
        <p:spPr>
          <a:xfrm>
            <a:off x="685800" y="1714500"/>
            <a:ext cx="6858000" cy="4286250"/>
          </a:xfrm>
          <a:prstGeom prst="roundRect">
            <a:avLst>
              <a:gd name="adj" fmla="val 2667"/>
            </a:avLst>
          </a:prstGeom>
        </p:spPr>
      </p:pic>
      <p:sp>
        <p:nvSpPr>
          <p:cNvPr id="7" name="Rectangle 6">
            <a:extLst>
              <a:ext uri="{FF2B5EF4-FFF2-40B4-BE49-F238E27FC236}">
                <a16:creationId xmlns:a16="http://schemas.microsoft.com/office/drawing/2014/main" id="{8D93F17F-C502-4B3F-8870-C52568646059}"/>
              </a:ext>
            </a:extLst>
          </p:cNvPr>
          <p:cNvSpPr>
            <a:spLocks noGrp="1"/>
          </p:cNvSpPr>
          <p:nvPr/>
        </p:nvSpPr>
        <p:spPr>
          <a:xfrm>
            <a:off x="8096250" y="1905000"/>
            <a:ext cx="2952750" cy="381000"/>
          </a:xfrm>
          <a:prstGeom prst="rect">
            <a:avLst/>
          </a:prstGeom>
          <a:noFill/>
          <a:ln w="0">
            <a:noFill/>
            <a:prstDash val="solid"/>
          </a:ln>
        </p:spPr>
        <p:txBody>
          <a:bodyPr/>
          <a:lstStyle/>
          <a:p>
            <a:pPr algn="l">
              <a:defRPr sz="1875" b="1">
                <a:solidFill>
                  <a:srgbClr val="102A43"/>
                </a:solidFill>
              </a:defRPr>
            </a:pPr>
            <a:r>
              <a:rPr sz="1875" b="1">
                <a:solidFill>
                  <a:srgbClr val="102A43"/>
                </a:solidFill>
              </a:rPr>
              <a:t>A clear opening</a:t>
            </a:r>
          </a:p>
        </p:txBody>
      </p:sp>
      <p:sp>
        <p:nvSpPr>
          <p:cNvPr id="8" name="Rectangle: Rounded Corners 7">
            <a:extLst>
              <a:ext uri="{FF2B5EF4-FFF2-40B4-BE49-F238E27FC236}">
                <a16:creationId xmlns:a16="http://schemas.microsoft.com/office/drawing/2014/main" id="{516B8C49-652F-487A-8D3B-B8070E5D2555}"/>
              </a:ext>
            </a:extLst>
          </p:cNvPr>
          <p:cNvSpPr>
            <a:spLocks noGrp="1"/>
          </p:cNvSpPr>
          <p:nvPr/>
        </p:nvSpPr>
        <p:spPr>
          <a:xfrm>
            <a:off x="8096250" y="2609850"/>
            <a:ext cx="85725" cy="85725"/>
          </a:xfrm>
          <a:prstGeom prst="roundRect">
            <a:avLst>
              <a:gd name="adj" fmla="val 50000"/>
            </a:avLst>
          </a:prstGeom>
          <a:solidFill>
            <a:srgbClr val="007C7A"/>
          </a:solidFill>
          <a:ln w="0">
            <a:noFill/>
            <a:prstDash val="solid"/>
          </a:ln>
        </p:spPr>
      </p:sp>
      <p:sp>
        <p:nvSpPr>
          <p:cNvPr id="9" name="Rectangle 8">
            <a:extLst>
              <a:ext uri="{FF2B5EF4-FFF2-40B4-BE49-F238E27FC236}">
                <a16:creationId xmlns:a16="http://schemas.microsoft.com/office/drawing/2014/main" id="{AA45E257-CBB8-405B-98B6-8DA7B18DE5C5}"/>
              </a:ext>
            </a:extLst>
          </p:cNvPr>
          <p:cNvSpPr>
            <a:spLocks noGrp="1"/>
          </p:cNvSpPr>
          <p:nvPr/>
        </p:nvSpPr>
        <p:spPr>
          <a:xfrm>
            <a:off x="8324850" y="2524125"/>
            <a:ext cx="2628900" cy="552450"/>
          </a:xfrm>
          <a:prstGeom prst="rect">
            <a:avLst/>
          </a:prstGeom>
          <a:noFill/>
          <a:ln w="0">
            <a:noFill/>
            <a:prstDash val="solid"/>
          </a:ln>
        </p:spPr>
        <p:txBody>
          <a:bodyPr/>
          <a:lstStyle/>
          <a:p>
            <a:pPr algn="l">
              <a:defRPr sz="1425" b="0">
                <a:solidFill>
                  <a:srgbClr val="243B53"/>
                </a:solidFill>
              </a:defRPr>
            </a:pPr>
            <a:r>
              <a:rPr sz="1425" b="0">
                <a:solidFill>
                  <a:srgbClr val="243B53"/>
                </a:solidFill>
              </a:rPr>
              <a:t>Short value statement</a:t>
            </a:r>
          </a:p>
        </p:txBody>
      </p:sp>
      <p:sp>
        <p:nvSpPr>
          <p:cNvPr id="10" name="Rectangle: Rounded Corners 9">
            <a:extLst>
              <a:ext uri="{FF2B5EF4-FFF2-40B4-BE49-F238E27FC236}">
                <a16:creationId xmlns:a16="http://schemas.microsoft.com/office/drawing/2014/main" id="{22DB3B85-DF41-492D-B4D3-10CF77F4CD29}"/>
              </a:ext>
            </a:extLst>
          </p:cNvPr>
          <p:cNvSpPr>
            <a:spLocks noGrp="1"/>
          </p:cNvSpPr>
          <p:nvPr/>
        </p:nvSpPr>
        <p:spPr>
          <a:xfrm>
            <a:off x="8096250" y="3228975"/>
            <a:ext cx="85725" cy="85725"/>
          </a:xfrm>
          <a:prstGeom prst="roundRect">
            <a:avLst>
              <a:gd name="adj" fmla="val 50000"/>
            </a:avLst>
          </a:prstGeom>
          <a:solidFill>
            <a:srgbClr val="007C7A"/>
          </a:solidFill>
          <a:ln w="0">
            <a:noFill/>
            <a:prstDash val="solid"/>
          </a:ln>
        </p:spPr>
      </p:sp>
      <p:sp>
        <p:nvSpPr>
          <p:cNvPr id="11" name="Rectangle 10">
            <a:extLst>
              <a:ext uri="{FF2B5EF4-FFF2-40B4-BE49-F238E27FC236}">
                <a16:creationId xmlns:a16="http://schemas.microsoft.com/office/drawing/2014/main" id="{2822C35C-B7DF-447A-983A-B166DAF974A7}"/>
              </a:ext>
            </a:extLst>
          </p:cNvPr>
          <p:cNvSpPr>
            <a:spLocks noGrp="1"/>
          </p:cNvSpPr>
          <p:nvPr/>
        </p:nvSpPr>
        <p:spPr>
          <a:xfrm>
            <a:off x="8324850" y="3143250"/>
            <a:ext cx="2628900" cy="552450"/>
          </a:xfrm>
          <a:prstGeom prst="rect">
            <a:avLst/>
          </a:prstGeom>
          <a:noFill/>
          <a:ln w="0">
            <a:noFill/>
            <a:prstDash val="solid"/>
          </a:ln>
        </p:spPr>
        <p:txBody>
          <a:bodyPr/>
          <a:lstStyle/>
          <a:p>
            <a:pPr algn="l">
              <a:defRPr sz="1425" b="0">
                <a:solidFill>
                  <a:srgbClr val="243B53"/>
                </a:solidFill>
              </a:defRPr>
            </a:pPr>
            <a:r>
              <a:rPr sz="1425" b="0">
                <a:solidFill>
                  <a:srgbClr val="243B53"/>
                </a:solidFill>
              </a:rPr>
              <a:t>Two main actions</a:t>
            </a:r>
          </a:p>
        </p:txBody>
      </p:sp>
      <p:sp>
        <p:nvSpPr>
          <p:cNvPr id="12" name="Rectangle: Rounded Corners 11">
            <a:extLst>
              <a:ext uri="{FF2B5EF4-FFF2-40B4-BE49-F238E27FC236}">
                <a16:creationId xmlns:a16="http://schemas.microsoft.com/office/drawing/2014/main" id="{E1D02A9D-AFC3-4A23-948A-2B16426C8EF2}"/>
              </a:ext>
            </a:extLst>
          </p:cNvPr>
          <p:cNvSpPr>
            <a:spLocks noGrp="1"/>
          </p:cNvSpPr>
          <p:nvPr/>
        </p:nvSpPr>
        <p:spPr>
          <a:xfrm>
            <a:off x="8096250" y="3848100"/>
            <a:ext cx="85725" cy="85725"/>
          </a:xfrm>
          <a:prstGeom prst="roundRect">
            <a:avLst>
              <a:gd name="adj" fmla="val 50000"/>
            </a:avLst>
          </a:prstGeom>
          <a:solidFill>
            <a:srgbClr val="007C7A"/>
          </a:solidFill>
          <a:ln w="0">
            <a:noFill/>
            <a:prstDash val="solid"/>
          </a:ln>
        </p:spPr>
      </p:sp>
      <p:sp>
        <p:nvSpPr>
          <p:cNvPr id="13" name="Rectangle 12">
            <a:extLst>
              <a:ext uri="{FF2B5EF4-FFF2-40B4-BE49-F238E27FC236}">
                <a16:creationId xmlns:a16="http://schemas.microsoft.com/office/drawing/2014/main" id="{300E1462-5751-4778-8EBE-49C877822189}"/>
              </a:ext>
            </a:extLst>
          </p:cNvPr>
          <p:cNvSpPr>
            <a:spLocks noGrp="1"/>
          </p:cNvSpPr>
          <p:nvPr/>
        </p:nvSpPr>
        <p:spPr>
          <a:xfrm>
            <a:off x="8324850" y="3762375"/>
            <a:ext cx="2628900" cy="552450"/>
          </a:xfrm>
          <a:prstGeom prst="rect">
            <a:avLst/>
          </a:prstGeom>
          <a:noFill/>
          <a:ln w="0">
            <a:noFill/>
            <a:prstDash val="solid"/>
          </a:ln>
        </p:spPr>
        <p:txBody>
          <a:bodyPr/>
          <a:lstStyle/>
          <a:p>
            <a:pPr algn="l">
              <a:defRPr sz="1425" b="0">
                <a:solidFill>
                  <a:srgbClr val="243B53"/>
                </a:solidFill>
              </a:defRPr>
            </a:pPr>
            <a:r>
              <a:rPr sz="1425" b="0">
                <a:solidFill>
                  <a:srgbClr val="243B53"/>
                </a:solidFill>
              </a:rPr>
              <a:t>Four featured products</a:t>
            </a:r>
          </a:p>
        </p:txBody>
      </p:sp>
      <p:sp>
        <p:nvSpPr>
          <p:cNvPr id="14" name="Rectangle: Rounded Corners 13">
            <a:extLst>
              <a:ext uri="{FF2B5EF4-FFF2-40B4-BE49-F238E27FC236}">
                <a16:creationId xmlns:a16="http://schemas.microsoft.com/office/drawing/2014/main" id="{D86B2838-497F-4699-8FCA-3152DAB580CB}"/>
              </a:ext>
            </a:extLst>
          </p:cNvPr>
          <p:cNvSpPr>
            <a:spLocks noGrp="1"/>
          </p:cNvSpPr>
          <p:nvPr/>
        </p:nvSpPr>
        <p:spPr>
          <a:xfrm>
            <a:off x="8096250" y="4467225"/>
            <a:ext cx="85725" cy="85725"/>
          </a:xfrm>
          <a:prstGeom prst="roundRect">
            <a:avLst>
              <a:gd name="adj" fmla="val 50000"/>
            </a:avLst>
          </a:prstGeom>
          <a:solidFill>
            <a:srgbClr val="007C7A"/>
          </a:solidFill>
          <a:ln w="0">
            <a:noFill/>
            <a:prstDash val="solid"/>
          </a:ln>
        </p:spPr>
      </p:sp>
      <p:sp>
        <p:nvSpPr>
          <p:cNvPr id="15" name="Rectangle 14">
            <a:extLst>
              <a:ext uri="{FF2B5EF4-FFF2-40B4-BE49-F238E27FC236}">
                <a16:creationId xmlns:a16="http://schemas.microsoft.com/office/drawing/2014/main" id="{4262C31D-C0F6-4E45-980C-947901FB78FB}"/>
              </a:ext>
            </a:extLst>
          </p:cNvPr>
          <p:cNvSpPr>
            <a:spLocks noGrp="1"/>
          </p:cNvSpPr>
          <p:nvPr/>
        </p:nvSpPr>
        <p:spPr>
          <a:xfrm>
            <a:off x="8324850" y="4381500"/>
            <a:ext cx="2628900" cy="552450"/>
          </a:xfrm>
          <a:prstGeom prst="rect">
            <a:avLst/>
          </a:prstGeom>
          <a:noFill/>
          <a:ln w="0">
            <a:noFill/>
            <a:prstDash val="solid"/>
          </a:ln>
        </p:spPr>
        <p:txBody>
          <a:bodyPr/>
          <a:lstStyle/>
          <a:p>
            <a:pPr algn="l">
              <a:defRPr sz="1425" b="0">
                <a:solidFill>
                  <a:srgbClr val="243B53"/>
                </a:solidFill>
              </a:defRPr>
            </a:pPr>
            <a:r>
              <a:rPr sz="1425" b="0">
                <a:solidFill>
                  <a:srgbClr val="243B53"/>
                </a:solidFill>
              </a:rPr>
              <a:t>Consistent header and footer</a:t>
            </a:r>
          </a:p>
        </p:txBody>
      </p:sp>
      <p:sp>
        <p:nvSpPr>
          <p:cNvPr id="16" name="Rectangle 15">
            <a:extLst>
              <a:ext uri="{FF2B5EF4-FFF2-40B4-BE49-F238E27FC236}">
                <a16:creationId xmlns:a16="http://schemas.microsoft.com/office/drawing/2014/main" id="{A0FFAF06-01B8-452D-B8D9-29EE3FD72B8A}"/>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17" name="Rectangle 16">
            <a:extLst>
              <a:ext uri="{FF2B5EF4-FFF2-40B4-BE49-F238E27FC236}">
                <a16:creationId xmlns:a16="http://schemas.microsoft.com/office/drawing/2014/main" id="{6FDB28D0-FCE6-4CE4-92CE-7379D394A1AC}"/>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197261534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9096C33-3C23-40CF-A12A-C7C8D5B2C37D}"/>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PRODUCT DISCOVERY</a:t>
            </a:r>
          </a:p>
        </p:txBody>
      </p:sp>
      <p:sp>
        <p:nvSpPr>
          <p:cNvPr id="2" name="Rectangle 1">
            <a:extLst>
              <a:ext uri="{FF2B5EF4-FFF2-40B4-BE49-F238E27FC236}">
                <a16:creationId xmlns:a16="http://schemas.microsoft.com/office/drawing/2014/main" id="{FBA5B41B-6C06-4818-AC45-4EAF9AE6AB3B}"/>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Search and filtering turn 12 items into a manageable choice</a:t>
            </a:r>
          </a:p>
        </p:txBody>
      </p:sp>
      <p:sp>
        <p:nvSpPr>
          <p:cNvPr id="3" name="Rectangle 2">
            <a:extLst>
              <a:ext uri="{FF2B5EF4-FFF2-40B4-BE49-F238E27FC236}">
                <a16:creationId xmlns:a16="http://schemas.microsoft.com/office/drawing/2014/main" id="{E728CBDE-CCAE-4383-A96A-F337042474BD}"/>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06</a:t>
            </a:r>
          </a:p>
        </p:txBody>
      </p:sp>
      <p:sp>
        <p:nvSpPr>
          <p:cNvPr id="4" name="Rectangle: Rounded Corners 3">
            <a:extLst>
              <a:ext uri="{FF2B5EF4-FFF2-40B4-BE49-F238E27FC236}">
                <a16:creationId xmlns:a16="http://schemas.microsoft.com/office/drawing/2014/main" id="{5BA84740-4F60-41C4-A952-693023C27B5F}"/>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3A6FA87D-9F18-4D8B-8B09-5AC9CE0F7857}"/>
              </a:ext>
            </a:extLst>
          </p:cNvPr>
          <p:cNvSpPr>
            <a:spLocks noGrp="1"/>
          </p:cNvSpPr>
          <p:nvPr/>
        </p:nvSpPr>
        <p:spPr>
          <a:xfrm>
            <a:off x="590550" y="1619250"/>
            <a:ext cx="6953250" cy="4476750"/>
          </a:xfrm>
          <a:prstGeom prst="roundRect">
            <a:avLst>
              <a:gd name="adj" fmla="val 3404"/>
            </a:avLst>
          </a:prstGeom>
          <a:solidFill>
            <a:srgbClr val="FFFFFF"/>
          </a:solidFill>
          <a:ln w="9525">
            <a:solidFill>
              <a:srgbClr val="CBD5E1"/>
            </a:solidFill>
            <a:prstDash val="solid"/>
          </a:ln>
        </p:spPr>
      </p:sp>
      <p:pic>
        <p:nvPicPr>
          <p:cNvPr id="22" name="Picture 21"/>
          <p:cNvPicPr>
            <a:picLocks noChangeAspect="1"/>
          </p:cNvPicPr>
          <p:nvPr/>
        </p:nvPicPr>
        <p:blipFill>
          <a:blip r:embed="rId3"/>
          <a:srcRect t="30614" b="30614"/>
          <a:stretch>
            <a:fillRect/>
          </a:stretch>
        </p:blipFill>
        <p:spPr>
          <a:xfrm>
            <a:off x="685800" y="1714500"/>
            <a:ext cx="6762750" cy="4286250"/>
          </a:xfrm>
          <a:prstGeom prst="roundRect">
            <a:avLst>
              <a:gd name="adj" fmla="val 2667"/>
            </a:avLst>
          </a:prstGeom>
        </p:spPr>
      </p:pic>
      <p:sp>
        <p:nvSpPr>
          <p:cNvPr id="7" name="Rectangle: Rounded Corners 6">
            <a:extLst>
              <a:ext uri="{FF2B5EF4-FFF2-40B4-BE49-F238E27FC236}">
                <a16:creationId xmlns:a16="http://schemas.microsoft.com/office/drawing/2014/main" id="{D0B306FF-CD61-4AE0-ABBE-0C64B96197D0}"/>
              </a:ext>
            </a:extLst>
          </p:cNvPr>
          <p:cNvSpPr>
            <a:spLocks noGrp="1"/>
          </p:cNvSpPr>
          <p:nvPr/>
        </p:nvSpPr>
        <p:spPr>
          <a:xfrm>
            <a:off x="7905750" y="1809750"/>
            <a:ext cx="3143250" cy="3619500"/>
          </a:xfrm>
          <a:prstGeom prst="roundRect">
            <a:avLst>
              <a:gd name="adj" fmla="val 4848"/>
            </a:avLst>
          </a:prstGeom>
          <a:solidFill>
            <a:srgbClr val="102A43"/>
          </a:solidFill>
          <a:ln w="0">
            <a:noFill/>
            <a:prstDash val="solid"/>
          </a:ln>
        </p:spPr>
      </p:sp>
      <p:sp>
        <p:nvSpPr>
          <p:cNvPr id="8" name="Rectangle 7">
            <a:extLst>
              <a:ext uri="{FF2B5EF4-FFF2-40B4-BE49-F238E27FC236}">
                <a16:creationId xmlns:a16="http://schemas.microsoft.com/office/drawing/2014/main" id="{36BC289C-F54F-4A39-B7FF-53A1B4FBE16B}"/>
              </a:ext>
            </a:extLst>
          </p:cNvPr>
          <p:cNvSpPr>
            <a:spLocks noGrp="1"/>
          </p:cNvSpPr>
          <p:nvPr/>
        </p:nvSpPr>
        <p:spPr>
          <a:xfrm>
            <a:off x="8229600" y="2133600"/>
            <a:ext cx="2571750" cy="361950"/>
          </a:xfrm>
          <a:prstGeom prst="rect">
            <a:avLst/>
          </a:prstGeom>
          <a:noFill/>
          <a:ln w="0">
            <a:noFill/>
            <a:prstDash val="solid"/>
          </a:ln>
        </p:spPr>
        <p:txBody>
          <a:bodyPr/>
          <a:lstStyle/>
          <a:p>
            <a:pPr algn="l">
              <a:defRPr sz="1875" b="1">
                <a:solidFill>
                  <a:srgbClr val="F5B942"/>
                </a:solidFill>
              </a:defRPr>
            </a:pPr>
            <a:r>
              <a:rPr sz="1875" b="1">
                <a:solidFill>
                  <a:srgbClr val="F5B942"/>
                </a:solidFill>
              </a:rPr>
              <a:t>The DOM updates</a:t>
            </a:r>
          </a:p>
        </p:txBody>
      </p:sp>
      <p:sp>
        <p:nvSpPr>
          <p:cNvPr id="9" name="Rectangle 8">
            <a:extLst>
              <a:ext uri="{FF2B5EF4-FFF2-40B4-BE49-F238E27FC236}">
                <a16:creationId xmlns:a16="http://schemas.microsoft.com/office/drawing/2014/main" id="{E1C8B98D-FFF9-44D4-97C4-6DD383E6F5A5}"/>
              </a:ext>
            </a:extLst>
          </p:cNvPr>
          <p:cNvSpPr>
            <a:spLocks noGrp="1"/>
          </p:cNvSpPr>
          <p:nvPr/>
        </p:nvSpPr>
        <p:spPr>
          <a:xfrm>
            <a:off x="8248650" y="2781300"/>
            <a:ext cx="381000" cy="381000"/>
          </a:xfrm>
          <a:prstGeom prst="rect">
            <a:avLst/>
          </a:prstGeom>
          <a:noFill/>
          <a:ln w="0">
            <a:noFill/>
            <a:prstDash val="solid"/>
          </a:ln>
        </p:spPr>
        <p:txBody>
          <a:bodyPr/>
          <a:lstStyle/>
          <a:p>
            <a:pPr algn="l">
              <a:defRPr sz="2100" b="1">
                <a:solidFill>
                  <a:srgbClr val="FFFFFF"/>
                </a:solidFill>
              </a:defRPr>
            </a:pPr>
            <a:r>
              <a:rPr sz="2100" b="1">
                <a:solidFill>
                  <a:srgbClr val="FFFFFF"/>
                </a:solidFill>
              </a:rPr>
              <a:t>1</a:t>
            </a:r>
          </a:p>
        </p:txBody>
      </p:sp>
      <p:sp>
        <p:nvSpPr>
          <p:cNvPr id="10" name="Rectangle 9">
            <a:extLst>
              <a:ext uri="{FF2B5EF4-FFF2-40B4-BE49-F238E27FC236}">
                <a16:creationId xmlns:a16="http://schemas.microsoft.com/office/drawing/2014/main" id="{626AB924-568A-456E-B125-45830B982DAA}"/>
              </a:ext>
            </a:extLst>
          </p:cNvPr>
          <p:cNvSpPr>
            <a:spLocks noGrp="1"/>
          </p:cNvSpPr>
          <p:nvPr/>
        </p:nvSpPr>
        <p:spPr>
          <a:xfrm>
            <a:off x="8743950" y="2819400"/>
            <a:ext cx="1905000" cy="476250"/>
          </a:xfrm>
          <a:prstGeom prst="rect">
            <a:avLst/>
          </a:prstGeom>
          <a:noFill/>
          <a:ln w="0">
            <a:noFill/>
            <a:prstDash val="solid"/>
          </a:ln>
        </p:spPr>
        <p:txBody>
          <a:bodyPr/>
          <a:lstStyle/>
          <a:p>
            <a:pPr algn="l">
              <a:defRPr sz="1425" b="0">
                <a:solidFill>
                  <a:srgbClr val="FFFFFF"/>
                </a:solidFill>
              </a:defRPr>
            </a:pPr>
            <a:r>
              <a:rPr sz="1425" b="0">
                <a:solidFill>
                  <a:srgbClr val="FFFFFF"/>
                </a:solidFill>
              </a:rPr>
              <a:t>Read the products array</a:t>
            </a:r>
          </a:p>
        </p:txBody>
      </p:sp>
      <p:sp>
        <p:nvSpPr>
          <p:cNvPr id="11" name="Rectangle 10">
            <a:extLst>
              <a:ext uri="{FF2B5EF4-FFF2-40B4-BE49-F238E27FC236}">
                <a16:creationId xmlns:a16="http://schemas.microsoft.com/office/drawing/2014/main" id="{6844E950-4A3F-4131-BFD8-1DA8B06B79AF}"/>
              </a:ext>
            </a:extLst>
          </p:cNvPr>
          <p:cNvSpPr>
            <a:spLocks noGrp="1"/>
          </p:cNvSpPr>
          <p:nvPr/>
        </p:nvSpPr>
        <p:spPr>
          <a:xfrm>
            <a:off x="8248650" y="3543300"/>
            <a:ext cx="381000" cy="381000"/>
          </a:xfrm>
          <a:prstGeom prst="rect">
            <a:avLst/>
          </a:prstGeom>
          <a:noFill/>
          <a:ln w="0">
            <a:noFill/>
            <a:prstDash val="solid"/>
          </a:ln>
        </p:spPr>
        <p:txBody>
          <a:bodyPr/>
          <a:lstStyle/>
          <a:p>
            <a:pPr algn="l">
              <a:defRPr sz="2100" b="1">
                <a:solidFill>
                  <a:srgbClr val="FFFFFF"/>
                </a:solidFill>
              </a:defRPr>
            </a:pPr>
            <a:r>
              <a:rPr sz="2100" b="1">
                <a:solidFill>
                  <a:srgbClr val="FFFFFF"/>
                </a:solidFill>
              </a:rPr>
              <a:t>2</a:t>
            </a:r>
          </a:p>
        </p:txBody>
      </p:sp>
      <p:sp>
        <p:nvSpPr>
          <p:cNvPr id="12" name="Rectangle 11">
            <a:extLst>
              <a:ext uri="{FF2B5EF4-FFF2-40B4-BE49-F238E27FC236}">
                <a16:creationId xmlns:a16="http://schemas.microsoft.com/office/drawing/2014/main" id="{38ED6A9A-956F-4A1C-B060-A866EA8DA238}"/>
              </a:ext>
            </a:extLst>
          </p:cNvPr>
          <p:cNvSpPr>
            <a:spLocks noGrp="1"/>
          </p:cNvSpPr>
          <p:nvPr/>
        </p:nvSpPr>
        <p:spPr>
          <a:xfrm>
            <a:off x="8743950" y="3581400"/>
            <a:ext cx="1905000" cy="552450"/>
          </a:xfrm>
          <a:prstGeom prst="rect">
            <a:avLst/>
          </a:prstGeom>
          <a:noFill/>
          <a:ln w="0">
            <a:noFill/>
            <a:prstDash val="solid"/>
          </a:ln>
        </p:spPr>
        <p:txBody>
          <a:bodyPr/>
          <a:lstStyle/>
          <a:p>
            <a:pPr algn="l">
              <a:defRPr sz="1425" b="0">
                <a:solidFill>
                  <a:srgbClr val="FFFFFF"/>
                </a:solidFill>
              </a:defRPr>
            </a:pPr>
            <a:r>
              <a:rPr sz="1425" b="0">
                <a:solidFill>
                  <a:srgbClr val="FFFFFF"/>
                </a:solidFill>
              </a:rPr>
              <a:t>Apply search, filter or sort</a:t>
            </a:r>
          </a:p>
        </p:txBody>
      </p:sp>
      <p:sp>
        <p:nvSpPr>
          <p:cNvPr id="13" name="Rectangle 12">
            <a:extLst>
              <a:ext uri="{FF2B5EF4-FFF2-40B4-BE49-F238E27FC236}">
                <a16:creationId xmlns:a16="http://schemas.microsoft.com/office/drawing/2014/main" id="{EFCAD963-90F3-4171-BEFF-70B835538958}"/>
              </a:ext>
            </a:extLst>
          </p:cNvPr>
          <p:cNvSpPr>
            <a:spLocks noGrp="1"/>
          </p:cNvSpPr>
          <p:nvPr/>
        </p:nvSpPr>
        <p:spPr>
          <a:xfrm>
            <a:off x="8248650" y="4362450"/>
            <a:ext cx="381000" cy="381000"/>
          </a:xfrm>
          <a:prstGeom prst="rect">
            <a:avLst/>
          </a:prstGeom>
          <a:noFill/>
          <a:ln w="0">
            <a:noFill/>
            <a:prstDash val="solid"/>
          </a:ln>
        </p:spPr>
        <p:txBody>
          <a:bodyPr/>
          <a:lstStyle/>
          <a:p>
            <a:pPr algn="l">
              <a:defRPr sz="2100" b="1">
                <a:solidFill>
                  <a:srgbClr val="FFFFFF"/>
                </a:solidFill>
              </a:defRPr>
            </a:pPr>
            <a:r>
              <a:rPr sz="2100" b="1">
                <a:solidFill>
                  <a:srgbClr val="FFFFFF"/>
                </a:solidFill>
              </a:rPr>
              <a:t>3</a:t>
            </a:r>
          </a:p>
        </p:txBody>
      </p:sp>
      <p:sp>
        <p:nvSpPr>
          <p:cNvPr id="14" name="Rectangle 13">
            <a:extLst>
              <a:ext uri="{FF2B5EF4-FFF2-40B4-BE49-F238E27FC236}">
                <a16:creationId xmlns:a16="http://schemas.microsoft.com/office/drawing/2014/main" id="{E63B852B-4A33-43A3-BDDB-F4E07FEDC570}"/>
              </a:ext>
            </a:extLst>
          </p:cNvPr>
          <p:cNvSpPr>
            <a:spLocks noGrp="1"/>
          </p:cNvSpPr>
          <p:nvPr/>
        </p:nvSpPr>
        <p:spPr>
          <a:xfrm>
            <a:off x="8743950" y="4400550"/>
            <a:ext cx="1905000" cy="552450"/>
          </a:xfrm>
          <a:prstGeom prst="rect">
            <a:avLst/>
          </a:prstGeom>
          <a:noFill/>
          <a:ln w="0">
            <a:noFill/>
            <a:prstDash val="solid"/>
          </a:ln>
        </p:spPr>
        <p:txBody>
          <a:bodyPr/>
          <a:lstStyle/>
          <a:p>
            <a:pPr algn="l">
              <a:defRPr sz="1425" b="0">
                <a:solidFill>
                  <a:srgbClr val="FFFFFF"/>
                </a:solidFill>
              </a:defRPr>
            </a:pPr>
            <a:r>
              <a:rPr sz="1425" b="0">
                <a:solidFill>
                  <a:srgbClr val="FFFFFF"/>
                </a:solidFill>
              </a:rPr>
              <a:t>Create the matching cards</a:t>
            </a:r>
          </a:p>
        </p:txBody>
      </p:sp>
      <p:sp>
        <p:nvSpPr>
          <p:cNvPr id="15" name="Rectangle 14">
            <a:extLst>
              <a:ext uri="{FF2B5EF4-FFF2-40B4-BE49-F238E27FC236}">
                <a16:creationId xmlns:a16="http://schemas.microsoft.com/office/drawing/2014/main" id="{B6503A18-96C5-4AC4-A629-6450CC17CBC2}"/>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16" name="Rectangle 15">
            <a:extLst>
              <a:ext uri="{FF2B5EF4-FFF2-40B4-BE49-F238E27FC236}">
                <a16:creationId xmlns:a16="http://schemas.microsoft.com/office/drawing/2014/main" id="{615966E1-A5C8-40EE-867D-9E410E292BFB}"/>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50698304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13EF01-5BEC-46A8-BC1E-070C4DAC3083}"/>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CART FUNCTIONALITY</a:t>
            </a:r>
          </a:p>
        </p:txBody>
      </p:sp>
      <p:sp>
        <p:nvSpPr>
          <p:cNvPr id="2" name="Rectangle 1">
            <a:extLst>
              <a:ext uri="{FF2B5EF4-FFF2-40B4-BE49-F238E27FC236}">
                <a16:creationId xmlns:a16="http://schemas.microsoft.com/office/drawing/2014/main" id="{F2B6946B-C8A6-437B-B7EF-F77B521276DE}"/>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Every cart action immediately recalculates the order</a:t>
            </a:r>
          </a:p>
        </p:txBody>
      </p:sp>
      <p:sp>
        <p:nvSpPr>
          <p:cNvPr id="3" name="Rectangle 2">
            <a:extLst>
              <a:ext uri="{FF2B5EF4-FFF2-40B4-BE49-F238E27FC236}">
                <a16:creationId xmlns:a16="http://schemas.microsoft.com/office/drawing/2014/main" id="{D8A8943C-512F-4423-916C-69AEA694D862}"/>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07</a:t>
            </a:r>
          </a:p>
        </p:txBody>
      </p:sp>
      <p:sp>
        <p:nvSpPr>
          <p:cNvPr id="4" name="Rectangle: Rounded Corners 3">
            <a:extLst>
              <a:ext uri="{FF2B5EF4-FFF2-40B4-BE49-F238E27FC236}">
                <a16:creationId xmlns:a16="http://schemas.microsoft.com/office/drawing/2014/main" id="{648AE8D6-9337-4F2C-B500-F17A0316F07F}"/>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479B9F31-7D49-45D7-8DD5-F15E88CDCDD2}"/>
              </a:ext>
            </a:extLst>
          </p:cNvPr>
          <p:cNvSpPr>
            <a:spLocks noGrp="1"/>
          </p:cNvSpPr>
          <p:nvPr/>
        </p:nvSpPr>
        <p:spPr>
          <a:xfrm>
            <a:off x="590550" y="1619250"/>
            <a:ext cx="7191375" cy="4476750"/>
          </a:xfrm>
          <a:prstGeom prst="roundRect">
            <a:avLst>
              <a:gd name="adj" fmla="val 3404"/>
            </a:avLst>
          </a:prstGeom>
          <a:solidFill>
            <a:srgbClr val="FFFFFF"/>
          </a:solidFill>
          <a:ln w="9525">
            <a:solidFill>
              <a:srgbClr val="CBD5E1"/>
            </a:solidFill>
            <a:prstDash val="solid"/>
          </a:ln>
        </p:spPr>
      </p:sp>
      <p:pic>
        <p:nvPicPr>
          <p:cNvPr id="24" name="Picture 23"/>
          <p:cNvPicPr>
            <a:picLocks noChangeAspect="1"/>
          </p:cNvPicPr>
          <p:nvPr/>
        </p:nvPicPr>
        <p:blipFill>
          <a:blip r:embed="rId3"/>
          <a:srcRect t="24490" b="24490"/>
          <a:stretch>
            <a:fillRect/>
          </a:stretch>
        </p:blipFill>
        <p:spPr>
          <a:xfrm>
            <a:off x="685800" y="1714500"/>
            <a:ext cx="7000875" cy="4286250"/>
          </a:xfrm>
          <a:prstGeom prst="roundRect">
            <a:avLst>
              <a:gd name="adj" fmla="val 2667"/>
            </a:avLst>
          </a:prstGeom>
        </p:spPr>
      </p:pic>
      <p:sp>
        <p:nvSpPr>
          <p:cNvPr id="7" name="Rectangle: Rounded Corners 6">
            <a:extLst>
              <a:ext uri="{FF2B5EF4-FFF2-40B4-BE49-F238E27FC236}">
                <a16:creationId xmlns:a16="http://schemas.microsoft.com/office/drawing/2014/main" id="{41374C6F-3C0F-402D-A61E-AB9A129F3FAE}"/>
              </a:ext>
            </a:extLst>
          </p:cNvPr>
          <p:cNvSpPr>
            <a:spLocks noGrp="1"/>
          </p:cNvSpPr>
          <p:nvPr/>
        </p:nvSpPr>
        <p:spPr>
          <a:xfrm>
            <a:off x="8143875" y="1952625"/>
            <a:ext cx="2857500" cy="876300"/>
          </a:xfrm>
          <a:prstGeom prst="roundRect">
            <a:avLst>
              <a:gd name="adj" fmla="val 13043"/>
            </a:avLst>
          </a:prstGeom>
          <a:solidFill>
            <a:srgbClr val="F4F8FA"/>
          </a:solidFill>
          <a:ln w="0">
            <a:noFill/>
            <a:prstDash val="solid"/>
          </a:ln>
        </p:spPr>
      </p:sp>
      <p:sp>
        <p:nvSpPr>
          <p:cNvPr id="8" name="Rectangle 7">
            <a:extLst>
              <a:ext uri="{FF2B5EF4-FFF2-40B4-BE49-F238E27FC236}">
                <a16:creationId xmlns:a16="http://schemas.microsoft.com/office/drawing/2014/main" id="{024D9EF6-E6D8-4881-AE34-E16D482381DB}"/>
              </a:ext>
            </a:extLst>
          </p:cNvPr>
          <p:cNvSpPr>
            <a:spLocks noGrp="1"/>
          </p:cNvSpPr>
          <p:nvPr/>
        </p:nvSpPr>
        <p:spPr>
          <a:xfrm>
            <a:off x="8382000" y="2114550"/>
            <a:ext cx="2143125"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Add</a:t>
            </a:r>
          </a:p>
        </p:txBody>
      </p:sp>
      <p:sp>
        <p:nvSpPr>
          <p:cNvPr id="9" name="Rectangle 8">
            <a:extLst>
              <a:ext uri="{FF2B5EF4-FFF2-40B4-BE49-F238E27FC236}">
                <a16:creationId xmlns:a16="http://schemas.microsoft.com/office/drawing/2014/main" id="{E149CA08-3843-42AA-9B51-E2419D722377}"/>
              </a:ext>
            </a:extLst>
          </p:cNvPr>
          <p:cNvSpPr>
            <a:spLocks noGrp="1"/>
          </p:cNvSpPr>
          <p:nvPr/>
        </p:nvSpPr>
        <p:spPr>
          <a:xfrm>
            <a:off x="8382000" y="2419350"/>
            <a:ext cx="2143125" cy="228600"/>
          </a:xfrm>
          <a:prstGeom prst="rect">
            <a:avLst/>
          </a:prstGeom>
          <a:noFill/>
          <a:ln w="0">
            <a:noFill/>
            <a:prstDash val="solid"/>
          </a:ln>
        </p:spPr>
        <p:txBody>
          <a:bodyPr/>
          <a:lstStyle/>
          <a:p>
            <a:pPr algn="l">
              <a:defRPr sz="1275" b="0">
                <a:solidFill>
                  <a:srgbClr val="627D98"/>
                </a:solidFill>
              </a:defRPr>
            </a:pPr>
            <a:r>
              <a:rPr sz="1275" b="0">
                <a:solidFill>
                  <a:srgbClr val="627D98"/>
                </a:solidFill>
              </a:rPr>
              <a:t>save item</a:t>
            </a:r>
          </a:p>
        </p:txBody>
      </p:sp>
      <p:sp>
        <p:nvSpPr>
          <p:cNvPr id="10" name="Rectangle: Rounded Corners 9">
            <a:extLst>
              <a:ext uri="{FF2B5EF4-FFF2-40B4-BE49-F238E27FC236}">
                <a16:creationId xmlns:a16="http://schemas.microsoft.com/office/drawing/2014/main" id="{BCD21A18-6C11-4E09-AB09-64FF22B7CE42}"/>
              </a:ext>
            </a:extLst>
          </p:cNvPr>
          <p:cNvSpPr>
            <a:spLocks noGrp="1"/>
          </p:cNvSpPr>
          <p:nvPr/>
        </p:nvSpPr>
        <p:spPr>
          <a:xfrm>
            <a:off x="8143875" y="3114675"/>
            <a:ext cx="2857500" cy="876300"/>
          </a:xfrm>
          <a:prstGeom prst="roundRect">
            <a:avLst>
              <a:gd name="adj" fmla="val 13043"/>
            </a:avLst>
          </a:prstGeom>
          <a:solidFill>
            <a:srgbClr val="F4F8FA"/>
          </a:solidFill>
          <a:ln w="0">
            <a:noFill/>
            <a:prstDash val="solid"/>
          </a:ln>
        </p:spPr>
      </p:sp>
      <p:sp>
        <p:nvSpPr>
          <p:cNvPr id="11" name="Rectangle 10">
            <a:extLst>
              <a:ext uri="{FF2B5EF4-FFF2-40B4-BE49-F238E27FC236}">
                <a16:creationId xmlns:a16="http://schemas.microsoft.com/office/drawing/2014/main" id="{8ED1C062-E9C1-4707-8F72-E8748E290608}"/>
              </a:ext>
            </a:extLst>
          </p:cNvPr>
          <p:cNvSpPr>
            <a:spLocks noGrp="1"/>
          </p:cNvSpPr>
          <p:nvPr/>
        </p:nvSpPr>
        <p:spPr>
          <a:xfrm>
            <a:off x="8382000" y="3276600"/>
            <a:ext cx="2143125"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Change</a:t>
            </a:r>
          </a:p>
        </p:txBody>
      </p:sp>
      <p:sp>
        <p:nvSpPr>
          <p:cNvPr id="12" name="Rectangle 11">
            <a:extLst>
              <a:ext uri="{FF2B5EF4-FFF2-40B4-BE49-F238E27FC236}">
                <a16:creationId xmlns:a16="http://schemas.microsoft.com/office/drawing/2014/main" id="{30B250F7-B6C7-4B21-BAF2-461FDD0A92CE}"/>
              </a:ext>
            </a:extLst>
          </p:cNvPr>
          <p:cNvSpPr>
            <a:spLocks noGrp="1"/>
          </p:cNvSpPr>
          <p:nvPr/>
        </p:nvSpPr>
        <p:spPr>
          <a:xfrm>
            <a:off x="8382000" y="3581400"/>
            <a:ext cx="2143125" cy="228600"/>
          </a:xfrm>
          <a:prstGeom prst="rect">
            <a:avLst/>
          </a:prstGeom>
          <a:noFill/>
          <a:ln w="0">
            <a:noFill/>
            <a:prstDash val="solid"/>
          </a:ln>
        </p:spPr>
        <p:txBody>
          <a:bodyPr/>
          <a:lstStyle/>
          <a:p>
            <a:pPr algn="l">
              <a:defRPr sz="1275" b="0">
                <a:solidFill>
                  <a:srgbClr val="627D98"/>
                </a:solidFill>
              </a:defRPr>
            </a:pPr>
            <a:r>
              <a:rPr sz="1275" b="0">
                <a:solidFill>
                  <a:srgbClr val="627D98"/>
                </a:solidFill>
              </a:rPr>
              <a:t>update quantity</a:t>
            </a:r>
          </a:p>
        </p:txBody>
      </p:sp>
      <p:sp>
        <p:nvSpPr>
          <p:cNvPr id="13" name="Rectangle: Rounded Corners 12">
            <a:extLst>
              <a:ext uri="{FF2B5EF4-FFF2-40B4-BE49-F238E27FC236}">
                <a16:creationId xmlns:a16="http://schemas.microsoft.com/office/drawing/2014/main" id="{0F71938E-147A-42E0-A501-8395A2CAD491}"/>
              </a:ext>
            </a:extLst>
          </p:cNvPr>
          <p:cNvSpPr>
            <a:spLocks noGrp="1"/>
          </p:cNvSpPr>
          <p:nvPr/>
        </p:nvSpPr>
        <p:spPr>
          <a:xfrm>
            <a:off x="8143875" y="4276725"/>
            <a:ext cx="2857500" cy="876300"/>
          </a:xfrm>
          <a:prstGeom prst="roundRect">
            <a:avLst>
              <a:gd name="adj" fmla="val 13043"/>
            </a:avLst>
          </a:prstGeom>
          <a:solidFill>
            <a:srgbClr val="007C7A"/>
          </a:solidFill>
          <a:ln w="0">
            <a:noFill/>
            <a:prstDash val="solid"/>
          </a:ln>
        </p:spPr>
      </p:sp>
      <p:sp>
        <p:nvSpPr>
          <p:cNvPr id="14" name="Rectangle 13">
            <a:extLst>
              <a:ext uri="{FF2B5EF4-FFF2-40B4-BE49-F238E27FC236}">
                <a16:creationId xmlns:a16="http://schemas.microsoft.com/office/drawing/2014/main" id="{C6DD0997-E833-4E00-8C38-2B8F657D8ED2}"/>
              </a:ext>
            </a:extLst>
          </p:cNvPr>
          <p:cNvSpPr>
            <a:spLocks noGrp="1"/>
          </p:cNvSpPr>
          <p:nvPr/>
        </p:nvSpPr>
        <p:spPr>
          <a:xfrm>
            <a:off x="8382000" y="4438650"/>
            <a:ext cx="2143125" cy="266700"/>
          </a:xfrm>
          <a:prstGeom prst="rect">
            <a:avLst/>
          </a:prstGeom>
          <a:noFill/>
          <a:ln w="0">
            <a:noFill/>
            <a:prstDash val="solid"/>
          </a:ln>
        </p:spPr>
        <p:txBody>
          <a:bodyPr/>
          <a:lstStyle/>
          <a:p>
            <a:pPr algn="l">
              <a:defRPr sz="1575" b="1">
                <a:solidFill>
                  <a:srgbClr val="FFFFFF"/>
                </a:solidFill>
              </a:defRPr>
            </a:pPr>
            <a:r>
              <a:rPr sz="1575" b="1">
                <a:solidFill>
                  <a:srgbClr val="FFFFFF"/>
                </a:solidFill>
              </a:rPr>
              <a:t>Calculate</a:t>
            </a:r>
          </a:p>
        </p:txBody>
      </p:sp>
      <p:sp>
        <p:nvSpPr>
          <p:cNvPr id="15" name="Rectangle 14">
            <a:extLst>
              <a:ext uri="{FF2B5EF4-FFF2-40B4-BE49-F238E27FC236}">
                <a16:creationId xmlns:a16="http://schemas.microsoft.com/office/drawing/2014/main" id="{D8EA88D4-3E74-4437-B505-CDDFAEE3DACD}"/>
              </a:ext>
            </a:extLst>
          </p:cNvPr>
          <p:cNvSpPr>
            <a:spLocks noGrp="1"/>
          </p:cNvSpPr>
          <p:nvPr/>
        </p:nvSpPr>
        <p:spPr>
          <a:xfrm>
            <a:off x="8382000" y="4743450"/>
            <a:ext cx="2143125" cy="228600"/>
          </a:xfrm>
          <a:prstGeom prst="rect">
            <a:avLst/>
          </a:prstGeom>
          <a:noFill/>
          <a:ln w="0">
            <a:noFill/>
            <a:prstDash val="solid"/>
          </a:ln>
        </p:spPr>
        <p:txBody>
          <a:bodyPr/>
          <a:lstStyle/>
          <a:p>
            <a:pPr algn="l">
              <a:defRPr sz="1275" b="0">
                <a:solidFill>
                  <a:srgbClr val="DFF7F4"/>
                </a:solidFill>
              </a:defRPr>
            </a:pPr>
            <a:r>
              <a:rPr sz="1275" b="0">
                <a:solidFill>
                  <a:srgbClr val="DFF7F4"/>
                </a:solidFill>
              </a:rPr>
              <a:t>show total</a:t>
            </a:r>
          </a:p>
        </p:txBody>
      </p:sp>
      <p:sp>
        <p:nvSpPr>
          <p:cNvPr id="16" name="Rectangle 15">
            <a:extLst>
              <a:ext uri="{FF2B5EF4-FFF2-40B4-BE49-F238E27FC236}">
                <a16:creationId xmlns:a16="http://schemas.microsoft.com/office/drawing/2014/main" id="{43D34F73-96C4-4EBD-9009-41F2DE9AF84F}"/>
              </a:ext>
            </a:extLst>
          </p:cNvPr>
          <p:cNvSpPr>
            <a:spLocks noGrp="1"/>
          </p:cNvSpPr>
          <p:nvPr/>
        </p:nvSpPr>
        <p:spPr>
          <a:xfrm>
            <a:off x="8143875" y="5619750"/>
            <a:ext cx="2857500" cy="266700"/>
          </a:xfrm>
          <a:prstGeom prst="rect">
            <a:avLst/>
          </a:prstGeom>
          <a:noFill/>
          <a:ln w="0">
            <a:noFill/>
            <a:prstDash val="solid"/>
          </a:ln>
        </p:spPr>
        <p:txBody>
          <a:bodyPr/>
          <a:lstStyle/>
          <a:p>
            <a:pPr algn="ctr">
              <a:defRPr sz="1350" b="1">
                <a:solidFill>
                  <a:srgbClr val="F06C5B"/>
                </a:solidFill>
              </a:defRPr>
            </a:pPr>
            <a:r>
              <a:rPr sz="1350" b="1">
                <a:solidFill>
                  <a:srgbClr val="F06C5B"/>
                </a:solidFill>
              </a:rPr>
              <a:t>Stored in localStorage</a:t>
            </a:r>
          </a:p>
        </p:txBody>
      </p:sp>
      <p:sp>
        <p:nvSpPr>
          <p:cNvPr id="17" name="Rectangle 16">
            <a:extLst>
              <a:ext uri="{FF2B5EF4-FFF2-40B4-BE49-F238E27FC236}">
                <a16:creationId xmlns:a16="http://schemas.microsoft.com/office/drawing/2014/main" id="{E56CE1B9-785A-4FD1-B23F-6A6F846294F8}"/>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18" name="Rectangle 17">
            <a:extLst>
              <a:ext uri="{FF2B5EF4-FFF2-40B4-BE49-F238E27FC236}">
                <a16:creationId xmlns:a16="http://schemas.microsoft.com/office/drawing/2014/main" id="{4359CE90-ED9B-41CE-BB51-1D0F700366BD}"/>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18278720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4C1536-6FF8-4931-81E2-8EE2BC2639F7}"/>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RESPONSIVE DESIGN</a:t>
            </a:r>
          </a:p>
        </p:txBody>
      </p:sp>
      <p:sp>
        <p:nvSpPr>
          <p:cNvPr id="2" name="Rectangle 1">
            <a:extLst>
              <a:ext uri="{FF2B5EF4-FFF2-40B4-BE49-F238E27FC236}">
                <a16:creationId xmlns:a16="http://schemas.microsoft.com/office/drawing/2014/main" id="{34175B17-7F3B-4A53-A6A5-85545A2E0230}"/>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One content system adapts across three screen sizes</a:t>
            </a:r>
          </a:p>
        </p:txBody>
      </p:sp>
      <p:sp>
        <p:nvSpPr>
          <p:cNvPr id="3" name="Rectangle 2">
            <a:extLst>
              <a:ext uri="{FF2B5EF4-FFF2-40B4-BE49-F238E27FC236}">
                <a16:creationId xmlns:a16="http://schemas.microsoft.com/office/drawing/2014/main" id="{A0B17974-FF81-4A20-96FD-AE2899F73796}"/>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08</a:t>
            </a:r>
          </a:p>
        </p:txBody>
      </p:sp>
      <p:sp>
        <p:nvSpPr>
          <p:cNvPr id="4" name="Rectangle: Rounded Corners 3">
            <a:extLst>
              <a:ext uri="{FF2B5EF4-FFF2-40B4-BE49-F238E27FC236}">
                <a16:creationId xmlns:a16="http://schemas.microsoft.com/office/drawing/2014/main" id="{02E50C8B-B2E7-4D99-A716-6ECF474F8CCF}"/>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4">
            <a:extLst>
              <a:ext uri="{FF2B5EF4-FFF2-40B4-BE49-F238E27FC236}">
                <a16:creationId xmlns:a16="http://schemas.microsoft.com/office/drawing/2014/main" id="{458589A7-1120-4C53-B01A-EF190B9938B9}"/>
              </a:ext>
            </a:extLst>
          </p:cNvPr>
          <p:cNvSpPr>
            <a:spLocks noGrp="1"/>
          </p:cNvSpPr>
          <p:nvPr/>
        </p:nvSpPr>
        <p:spPr>
          <a:xfrm>
            <a:off x="857250" y="1752600"/>
            <a:ext cx="2857500" cy="228600"/>
          </a:xfrm>
          <a:prstGeom prst="rect">
            <a:avLst/>
          </a:prstGeom>
          <a:noFill/>
          <a:ln w="0">
            <a:noFill/>
            <a:prstDash val="solid"/>
          </a:ln>
        </p:spPr>
        <p:txBody>
          <a:bodyPr/>
          <a:lstStyle/>
          <a:p>
            <a:pPr algn="l">
              <a:defRPr sz="1050" b="1">
                <a:solidFill>
                  <a:srgbClr val="F5B942"/>
                </a:solidFill>
              </a:defRPr>
            </a:pPr>
            <a:r>
              <a:rPr sz="1050" b="1">
                <a:solidFill>
                  <a:srgbClr val="F5B942"/>
                </a:solidFill>
              </a:rPr>
              <a:t>DESKTOP</a:t>
            </a:r>
          </a:p>
        </p:txBody>
      </p:sp>
      <p:sp>
        <p:nvSpPr>
          <p:cNvPr id="6" name="Rectangle: Rounded Corners 5">
            <a:extLst>
              <a:ext uri="{FF2B5EF4-FFF2-40B4-BE49-F238E27FC236}">
                <a16:creationId xmlns:a16="http://schemas.microsoft.com/office/drawing/2014/main" id="{01400FC0-ED01-45C5-A712-BE77A6AEF539}"/>
              </a:ext>
            </a:extLst>
          </p:cNvPr>
          <p:cNvSpPr>
            <a:spLocks noGrp="1"/>
          </p:cNvSpPr>
          <p:nvPr/>
        </p:nvSpPr>
        <p:spPr>
          <a:xfrm>
            <a:off x="666750" y="2000250"/>
            <a:ext cx="6667500" cy="3905250"/>
          </a:xfrm>
          <a:prstGeom prst="roundRect">
            <a:avLst>
              <a:gd name="adj" fmla="val 3902"/>
            </a:avLst>
          </a:prstGeom>
          <a:solidFill>
            <a:srgbClr val="FFFFFF"/>
          </a:solidFill>
          <a:ln w="9525">
            <a:solidFill>
              <a:srgbClr val="CBD5E1"/>
            </a:solidFill>
            <a:prstDash val="solid"/>
          </a:ln>
        </p:spPr>
      </p:sp>
      <p:pic>
        <p:nvPicPr>
          <p:cNvPr id="27" name="Picture 26"/>
          <p:cNvPicPr>
            <a:picLocks noChangeAspect="1"/>
          </p:cNvPicPr>
          <p:nvPr/>
        </p:nvPicPr>
        <p:blipFill>
          <a:blip r:embed="rId3"/>
          <a:srcRect t="37235" b="37235"/>
          <a:stretch>
            <a:fillRect/>
          </a:stretch>
        </p:blipFill>
        <p:spPr>
          <a:xfrm>
            <a:off x="762000" y="2095500"/>
            <a:ext cx="6477000" cy="3714750"/>
          </a:xfrm>
          <a:prstGeom prst="roundRect">
            <a:avLst>
              <a:gd name="adj" fmla="val 3077"/>
            </a:avLst>
          </a:prstGeom>
        </p:spPr>
      </p:pic>
      <p:sp>
        <p:nvSpPr>
          <p:cNvPr id="8" name="Rectangle: Rounded Corners 7">
            <a:extLst>
              <a:ext uri="{FF2B5EF4-FFF2-40B4-BE49-F238E27FC236}">
                <a16:creationId xmlns:a16="http://schemas.microsoft.com/office/drawing/2014/main" id="{39DA68E9-AB77-48EC-9C82-1B6C594001F3}"/>
              </a:ext>
            </a:extLst>
          </p:cNvPr>
          <p:cNvSpPr>
            <a:spLocks noGrp="1"/>
          </p:cNvSpPr>
          <p:nvPr/>
        </p:nvSpPr>
        <p:spPr>
          <a:xfrm>
            <a:off x="7858125" y="1809750"/>
            <a:ext cx="2857500" cy="4000500"/>
          </a:xfrm>
          <a:prstGeom prst="roundRect">
            <a:avLst>
              <a:gd name="adj" fmla="val 8000"/>
            </a:avLst>
          </a:prstGeom>
          <a:solidFill>
            <a:srgbClr val="FFFFFF"/>
          </a:solidFill>
          <a:ln w="0">
            <a:noFill/>
            <a:prstDash val="solid"/>
          </a:ln>
        </p:spPr>
      </p:sp>
      <p:sp>
        <p:nvSpPr>
          <p:cNvPr id="9" name="Rectangle 8">
            <a:extLst>
              <a:ext uri="{FF2B5EF4-FFF2-40B4-BE49-F238E27FC236}">
                <a16:creationId xmlns:a16="http://schemas.microsoft.com/office/drawing/2014/main" id="{DD8998CC-2975-4DB6-9D2E-1ABB4A53141B}"/>
              </a:ext>
            </a:extLst>
          </p:cNvPr>
          <p:cNvSpPr>
            <a:spLocks noGrp="1"/>
          </p:cNvSpPr>
          <p:nvPr/>
        </p:nvSpPr>
        <p:spPr>
          <a:xfrm>
            <a:off x="8286750" y="2095500"/>
            <a:ext cx="2000250" cy="266700"/>
          </a:xfrm>
          <a:prstGeom prst="rect">
            <a:avLst/>
          </a:prstGeom>
          <a:noFill/>
          <a:ln w="0">
            <a:noFill/>
            <a:prstDash val="solid"/>
          </a:ln>
        </p:spPr>
        <p:txBody>
          <a:bodyPr/>
          <a:lstStyle/>
          <a:p>
            <a:pPr algn="ctr">
              <a:defRPr sz="1050" b="1">
                <a:solidFill>
                  <a:srgbClr val="007C7A"/>
                </a:solidFill>
              </a:defRPr>
            </a:pPr>
            <a:r>
              <a:rPr sz="1050" b="1">
                <a:solidFill>
                  <a:srgbClr val="007C7A"/>
                </a:solidFill>
              </a:rPr>
              <a:t>MOBILE</a:t>
            </a:r>
          </a:p>
        </p:txBody>
      </p:sp>
      <p:sp>
        <p:nvSpPr>
          <p:cNvPr id="10" name="Rectangle 9">
            <a:extLst>
              <a:ext uri="{FF2B5EF4-FFF2-40B4-BE49-F238E27FC236}">
                <a16:creationId xmlns:a16="http://schemas.microsoft.com/office/drawing/2014/main" id="{C6B3379A-0404-461D-90F0-918D26296B86}"/>
              </a:ext>
            </a:extLst>
          </p:cNvPr>
          <p:cNvSpPr>
            <a:spLocks noGrp="1"/>
          </p:cNvSpPr>
          <p:nvPr/>
        </p:nvSpPr>
        <p:spPr>
          <a:xfrm>
            <a:off x="8286750" y="2533650"/>
            <a:ext cx="2000250" cy="514350"/>
          </a:xfrm>
          <a:prstGeom prst="rect">
            <a:avLst/>
          </a:prstGeom>
          <a:noFill/>
          <a:ln w="0">
            <a:noFill/>
            <a:prstDash val="solid"/>
          </a:ln>
        </p:spPr>
        <p:txBody>
          <a:bodyPr/>
          <a:lstStyle/>
          <a:p>
            <a:pPr algn="ctr">
              <a:defRPr sz="2850" b="1">
                <a:solidFill>
                  <a:srgbClr val="102A43"/>
                </a:solidFill>
              </a:defRPr>
            </a:pPr>
            <a:r>
              <a:rPr sz="2850" b="1">
                <a:solidFill>
                  <a:srgbClr val="102A43"/>
                </a:solidFill>
              </a:rPr>
              <a:t>390 px</a:t>
            </a:r>
          </a:p>
        </p:txBody>
      </p:sp>
      <p:sp>
        <p:nvSpPr>
          <p:cNvPr id="11" name="Rectangle: Rounded Corners 10">
            <a:extLst>
              <a:ext uri="{FF2B5EF4-FFF2-40B4-BE49-F238E27FC236}">
                <a16:creationId xmlns:a16="http://schemas.microsoft.com/office/drawing/2014/main" id="{D264071A-04E4-4EEE-97DF-39A75381BCA4}"/>
              </a:ext>
            </a:extLst>
          </p:cNvPr>
          <p:cNvSpPr>
            <a:spLocks noGrp="1"/>
          </p:cNvSpPr>
          <p:nvPr/>
        </p:nvSpPr>
        <p:spPr>
          <a:xfrm>
            <a:off x="8286750" y="3419475"/>
            <a:ext cx="85725" cy="85725"/>
          </a:xfrm>
          <a:prstGeom prst="roundRect">
            <a:avLst>
              <a:gd name="adj" fmla="val 50000"/>
            </a:avLst>
          </a:prstGeom>
          <a:solidFill>
            <a:srgbClr val="007C7A"/>
          </a:solidFill>
          <a:ln w="0">
            <a:noFill/>
            <a:prstDash val="solid"/>
          </a:ln>
        </p:spPr>
      </p:sp>
      <p:sp>
        <p:nvSpPr>
          <p:cNvPr id="12" name="Rectangle 11">
            <a:extLst>
              <a:ext uri="{FF2B5EF4-FFF2-40B4-BE49-F238E27FC236}">
                <a16:creationId xmlns:a16="http://schemas.microsoft.com/office/drawing/2014/main" id="{A32853A3-A13F-42A5-B416-058BE35C463A}"/>
              </a:ext>
            </a:extLst>
          </p:cNvPr>
          <p:cNvSpPr>
            <a:spLocks noGrp="1"/>
          </p:cNvSpPr>
          <p:nvPr/>
        </p:nvSpPr>
        <p:spPr>
          <a:xfrm>
            <a:off x="8515350" y="3333750"/>
            <a:ext cx="1771650" cy="552450"/>
          </a:xfrm>
          <a:prstGeom prst="rect">
            <a:avLst/>
          </a:prstGeom>
          <a:noFill/>
          <a:ln w="0">
            <a:noFill/>
            <a:prstDash val="solid"/>
          </a:ln>
        </p:spPr>
        <p:txBody>
          <a:bodyPr/>
          <a:lstStyle/>
          <a:p>
            <a:pPr algn="l">
              <a:defRPr sz="1350" b="0">
                <a:solidFill>
                  <a:srgbClr val="243B53"/>
                </a:solidFill>
              </a:defRPr>
            </a:pPr>
            <a:r>
              <a:rPr sz="1350" b="0">
                <a:solidFill>
                  <a:srgbClr val="243B53"/>
                </a:solidFill>
              </a:rPr>
              <a:t>Menu button</a:t>
            </a:r>
          </a:p>
        </p:txBody>
      </p:sp>
      <p:sp>
        <p:nvSpPr>
          <p:cNvPr id="13" name="Rectangle: Rounded Corners 12">
            <a:extLst>
              <a:ext uri="{FF2B5EF4-FFF2-40B4-BE49-F238E27FC236}">
                <a16:creationId xmlns:a16="http://schemas.microsoft.com/office/drawing/2014/main" id="{9685FADD-B72E-43FF-9CD0-AB9C61AE0209}"/>
              </a:ext>
            </a:extLst>
          </p:cNvPr>
          <p:cNvSpPr>
            <a:spLocks noGrp="1"/>
          </p:cNvSpPr>
          <p:nvPr/>
        </p:nvSpPr>
        <p:spPr>
          <a:xfrm>
            <a:off x="8286750" y="3990975"/>
            <a:ext cx="85725" cy="85725"/>
          </a:xfrm>
          <a:prstGeom prst="roundRect">
            <a:avLst>
              <a:gd name="adj" fmla="val 50000"/>
            </a:avLst>
          </a:prstGeom>
          <a:solidFill>
            <a:srgbClr val="007C7A"/>
          </a:solidFill>
          <a:ln w="0">
            <a:noFill/>
            <a:prstDash val="solid"/>
          </a:ln>
        </p:spPr>
      </p:sp>
      <p:sp>
        <p:nvSpPr>
          <p:cNvPr id="14" name="Rectangle 13">
            <a:extLst>
              <a:ext uri="{FF2B5EF4-FFF2-40B4-BE49-F238E27FC236}">
                <a16:creationId xmlns:a16="http://schemas.microsoft.com/office/drawing/2014/main" id="{70B3224E-02E5-4D4C-98C8-1F05881CEF53}"/>
              </a:ext>
            </a:extLst>
          </p:cNvPr>
          <p:cNvSpPr>
            <a:spLocks noGrp="1"/>
          </p:cNvSpPr>
          <p:nvPr/>
        </p:nvSpPr>
        <p:spPr>
          <a:xfrm>
            <a:off x="8515350" y="3905250"/>
            <a:ext cx="1771650" cy="552450"/>
          </a:xfrm>
          <a:prstGeom prst="rect">
            <a:avLst/>
          </a:prstGeom>
          <a:noFill/>
          <a:ln w="0">
            <a:noFill/>
            <a:prstDash val="solid"/>
          </a:ln>
        </p:spPr>
        <p:txBody>
          <a:bodyPr/>
          <a:lstStyle/>
          <a:p>
            <a:pPr algn="l">
              <a:defRPr sz="1350" b="0">
                <a:solidFill>
                  <a:srgbClr val="243B53"/>
                </a:solidFill>
              </a:defRPr>
            </a:pPr>
            <a:r>
              <a:rPr sz="1350" b="0">
                <a:solidFill>
                  <a:srgbClr val="243B53"/>
                </a:solidFill>
              </a:rPr>
              <a:t>One-column cards</a:t>
            </a:r>
          </a:p>
        </p:txBody>
      </p:sp>
      <p:sp>
        <p:nvSpPr>
          <p:cNvPr id="15" name="Rectangle: Rounded Corners 14">
            <a:extLst>
              <a:ext uri="{FF2B5EF4-FFF2-40B4-BE49-F238E27FC236}">
                <a16:creationId xmlns:a16="http://schemas.microsoft.com/office/drawing/2014/main" id="{F78596DA-C566-44DE-BEAA-8F8882B29150}"/>
              </a:ext>
            </a:extLst>
          </p:cNvPr>
          <p:cNvSpPr>
            <a:spLocks noGrp="1"/>
          </p:cNvSpPr>
          <p:nvPr/>
        </p:nvSpPr>
        <p:spPr>
          <a:xfrm>
            <a:off x="8286750" y="4562475"/>
            <a:ext cx="85725" cy="85725"/>
          </a:xfrm>
          <a:prstGeom prst="roundRect">
            <a:avLst>
              <a:gd name="adj" fmla="val 50000"/>
            </a:avLst>
          </a:prstGeom>
          <a:solidFill>
            <a:srgbClr val="007C7A"/>
          </a:solidFill>
          <a:ln w="0">
            <a:noFill/>
            <a:prstDash val="solid"/>
          </a:ln>
        </p:spPr>
      </p:sp>
      <p:sp>
        <p:nvSpPr>
          <p:cNvPr id="16" name="Rectangle 15">
            <a:extLst>
              <a:ext uri="{FF2B5EF4-FFF2-40B4-BE49-F238E27FC236}">
                <a16:creationId xmlns:a16="http://schemas.microsoft.com/office/drawing/2014/main" id="{648FA098-A54D-4DF5-8CBD-5F7D965EAC9A}"/>
              </a:ext>
            </a:extLst>
          </p:cNvPr>
          <p:cNvSpPr>
            <a:spLocks noGrp="1"/>
          </p:cNvSpPr>
          <p:nvPr/>
        </p:nvSpPr>
        <p:spPr>
          <a:xfrm>
            <a:off x="8515350" y="4476750"/>
            <a:ext cx="1771650" cy="552450"/>
          </a:xfrm>
          <a:prstGeom prst="rect">
            <a:avLst/>
          </a:prstGeom>
          <a:noFill/>
          <a:ln w="0">
            <a:noFill/>
            <a:prstDash val="solid"/>
          </a:ln>
        </p:spPr>
        <p:txBody>
          <a:bodyPr/>
          <a:lstStyle/>
          <a:p>
            <a:pPr algn="l">
              <a:defRPr sz="1350" b="0">
                <a:solidFill>
                  <a:srgbClr val="243B53"/>
                </a:solidFill>
              </a:defRPr>
            </a:pPr>
            <a:r>
              <a:rPr sz="1350" b="0">
                <a:solidFill>
                  <a:srgbClr val="243B53"/>
                </a:solidFill>
              </a:rPr>
              <a:t>Stacked controls</a:t>
            </a:r>
          </a:p>
        </p:txBody>
      </p:sp>
      <p:sp>
        <p:nvSpPr>
          <p:cNvPr id="17" name="Rectangle: Rounded Corners 16">
            <a:extLst>
              <a:ext uri="{FF2B5EF4-FFF2-40B4-BE49-F238E27FC236}">
                <a16:creationId xmlns:a16="http://schemas.microsoft.com/office/drawing/2014/main" id="{C170C32C-920F-4E61-9275-2BDF30700F1A}"/>
              </a:ext>
            </a:extLst>
          </p:cNvPr>
          <p:cNvSpPr>
            <a:spLocks noGrp="1"/>
          </p:cNvSpPr>
          <p:nvPr/>
        </p:nvSpPr>
        <p:spPr>
          <a:xfrm>
            <a:off x="8286750" y="5133975"/>
            <a:ext cx="85725" cy="85725"/>
          </a:xfrm>
          <a:prstGeom prst="roundRect">
            <a:avLst>
              <a:gd name="adj" fmla="val 50000"/>
            </a:avLst>
          </a:prstGeom>
          <a:solidFill>
            <a:srgbClr val="007C7A"/>
          </a:solidFill>
          <a:ln w="0">
            <a:noFill/>
            <a:prstDash val="solid"/>
          </a:ln>
        </p:spPr>
      </p:sp>
      <p:sp>
        <p:nvSpPr>
          <p:cNvPr id="18" name="Rectangle 17">
            <a:extLst>
              <a:ext uri="{FF2B5EF4-FFF2-40B4-BE49-F238E27FC236}">
                <a16:creationId xmlns:a16="http://schemas.microsoft.com/office/drawing/2014/main" id="{6EFEBF66-2AF1-44DB-BDB5-56DEEC14EDF8}"/>
              </a:ext>
            </a:extLst>
          </p:cNvPr>
          <p:cNvSpPr>
            <a:spLocks noGrp="1"/>
          </p:cNvSpPr>
          <p:nvPr/>
        </p:nvSpPr>
        <p:spPr>
          <a:xfrm>
            <a:off x="8515350" y="5048250"/>
            <a:ext cx="1771650" cy="552450"/>
          </a:xfrm>
          <a:prstGeom prst="rect">
            <a:avLst/>
          </a:prstGeom>
          <a:noFill/>
          <a:ln w="0">
            <a:noFill/>
            <a:prstDash val="solid"/>
          </a:ln>
        </p:spPr>
        <p:txBody>
          <a:bodyPr/>
          <a:lstStyle/>
          <a:p>
            <a:pPr algn="l">
              <a:defRPr sz="1350" b="0">
                <a:solidFill>
                  <a:srgbClr val="243B53"/>
                </a:solidFill>
              </a:defRPr>
            </a:pPr>
            <a:r>
              <a:rPr sz="1350" b="0">
                <a:solidFill>
                  <a:srgbClr val="243B53"/>
                </a:solidFill>
              </a:rPr>
              <a:t>No sideways scroll</a:t>
            </a:r>
          </a:p>
        </p:txBody>
      </p:sp>
      <p:sp>
        <p:nvSpPr>
          <p:cNvPr id="19" name="Rectangle 18">
            <a:extLst>
              <a:ext uri="{FF2B5EF4-FFF2-40B4-BE49-F238E27FC236}">
                <a16:creationId xmlns:a16="http://schemas.microsoft.com/office/drawing/2014/main" id="{55E953F0-0A4A-413D-92C3-61D22E7B8026}"/>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20" name="Rectangle 19">
            <a:extLst>
              <a:ext uri="{FF2B5EF4-FFF2-40B4-BE49-F238E27FC236}">
                <a16:creationId xmlns:a16="http://schemas.microsoft.com/office/drawing/2014/main" id="{7F175394-6D6A-469F-877A-E59DC8B84159}"/>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17623165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E59A21D-A254-4473-8624-51996E76086C}"/>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ACCESSIBILITY AND SEO</a:t>
            </a:r>
          </a:p>
        </p:txBody>
      </p:sp>
      <p:sp>
        <p:nvSpPr>
          <p:cNvPr id="2" name="Rectangle 1">
            <a:extLst>
              <a:ext uri="{FF2B5EF4-FFF2-40B4-BE49-F238E27FC236}">
                <a16:creationId xmlns:a16="http://schemas.microsoft.com/office/drawing/2014/main" id="{C0D08887-8FCF-473A-8E34-0DD3F98E019A}"/>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Small code choices make the experience clearer and easier to find</a:t>
            </a:r>
          </a:p>
        </p:txBody>
      </p:sp>
      <p:sp>
        <p:nvSpPr>
          <p:cNvPr id="3" name="Rectangle 2">
            <a:extLst>
              <a:ext uri="{FF2B5EF4-FFF2-40B4-BE49-F238E27FC236}">
                <a16:creationId xmlns:a16="http://schemas.microsoft.com/office/drawing/2014/main" id="{746941B6-F3AE-41C7-98A0-834228AF4FA4}"/>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09</a:t>
            </a:r>
          </a:p>
        </p:txBody>
      </p:sp>
      <p:sp>
        <p:nvSpPr>
          <p:cNvPr id="4" name="Rectangle: Rounded Corners 3">
            <a:extLst>
              <a:ext uri="{FF2B5EF4-FFF2-40B4-BE49-F238E27FC236}">
                <a16:creationId xmlns:a16="http://schemas.microsoft.com/office/drawing/2014/main" id="{03519DB6-D50B-4735-AD89-E5D63B12FE1D}"/>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4">
            <a:extLst>
              <a:ext uri="{FF2B5EF4-FFF2-40B4-BE49-F238E27FC236}">
                <a16:creationId xmlns:a16="http://schemas.microsoft.com/office/drawing/2014/main" id="{91C55FC6-7742-426B-BDA9-8FCAF1FEB47A}"/>
              </a:ext>
            </a:extLst>
          </p:cNvPr>
          <p:cNvSpPr>
            <a:spLocks noGrp="1"/>
          </p:cNvSpPr>
          <p:nvPr/>
        </p:nvSpPr>
        <p:spPr>
          <a:xfrm>
            <a:off x="685800" y="1809750"/>
            <a:ext cx="4762500" cy="266700"/>
          </a:xfrm>
          <a:prstGeom prst="rect">
            <a:avLst/>
          </a:prstGeom>
          <a:noFill/>
          <a:ln w="0">
            <a:noFill/>
            <a:prstDash val="solid"/>
          </a:ln>
        </p:spPr>
        <p:txBody>
          <a:bodyPr/>
          <a:lstStyle/>
          <a:p>
            <a:pPr algn="l">
              <a:defRPr sz="1275" b="1">
                <a:solidFill>
                  <a:srgbClr val="007C7A"/>
                </a:solidFill>
              </a:defRPr>
            </a:pPr>
            <a:r>
              <a:rPr sz="1275" b="1">
                <a:solidFill>
                  <a:srgbClr val="007C7A"/>
                </a:solidFill>
              </a:rPr>
              <a:t>ACCESSIBILITY</a:t>
            </a:r>
          </a:p>
        </p:txBody>
      </p:sp>
      <p:sp>
        <p:nvSpPr>
          <p:cNvPr id="6" name="Rectangle 5">
            <a:extLst>
              <a:ext uri="{FF2B5EF4-FFF2-40B4-BE49-F238E27FC236}">
                <a16:creationId xmlns:a16="http://schemas.microsoft.com/office/drawing/2014/main" id="{BBCD6894-26CF-492F-8BD7-25CA4A5D009E}"/>
              </a:ext>
            </a:extLst>
          </p:cNvPr>
          <p:cNvSpPr>
            <a:spLocks noGrp="1"/>
          </p:cNvSpPr>
          <p:nvPr/>
        </p:nvSpPr>
        <p:spPr>
          <a:xfrm>
            <a:off x="6419850" y="1809750"/>
            <a:ext cx="4762500" cy="266700"/>
          </a:xfrm>
          <a:prstGeom prst="rect">
            <a:avLst/>
          </a:prstGeom>
          <a:noFill/>
          <a:ln w="0">
            <a:noFill/>
            <a:prstDash val="solid"/>
          </a:ln>
        </p:spPr>
        <p:txBody>
          <a:bodyPr/>
          <a:lstStyle/>
          <a:p>
            <a:pPr algn="l">
              <a:defRPr sz="1275" b="1">
                <a:solidFill>
                  <a:srgbClr val="F06C5B"/>
                </a:solidFill>
              </a:defRPr>
            </a:pPr>
            <a:r>
              <a:rPr sz="1275" b="1">
                <a:solidFill>
                  <a:srgbClr val="F06C5B"/>
                </a:solidFill>
              </a:rPr>
              <a:t>SEO</a:t>
            </a:r>
          </a:p>
        </p:txBody>
      </p:sp>
      <p:sp>
        <p:nvSpPr>
          <p:cNvPr id="7" name="Rectangle: Rounded Corners 6">
            <a:extLst>
              <a:ext uri="{FF2B5EF4-FFF2-40B4-BE49-F238E27FC236}">
                <a16:creationId xmlns:a16="http://schemas.microsoft.com/office/drawing/2014/main" id="{FA9043EA-E7FD-45AB-A9EE-CD724B39E4FC}"/>
              </a:ext>
            </a:extLst>
          </p:cNvPr>
          <p:cNvSpPr>
            <a:spLocks noGrp="1"/>
          </p:cNvSpPr>
          <p:nvPr/>
        </p:nvSpPr>
        <p:spPr>
          <a:xfrm>
            <a:off x="685800" y="2247900"/>
            <a:ext cx="5086350" cy="914400"/>
          </a:xfrm>
          <a:prstGeom prst="roundRect">
            <a:avLst>
              <a:gd name="adj" fmla="val 12500"/>
            </a:avLst>
          </a:prstGeom>
          <a:solidFill>
            <a:srgbClr val="FFFFFF"/>
          </a:solidFill>
          <a:ln w="9525">
            <a:solidFill>
              <a:srgbClr val="CBD5E1"/>
            </a:solidFill>
            <a:prstDash val="solid"/>
          </a:ln>
        </p:spPr>
      </p:sp>
      <p:sp>
        <p:nvSpPr>
          <p:cNvPr id="8" name="Rectangle 7">
            <a:extLst>
              <a:ext uri="{FF2B5EF4-FFF2-40B4-BE49-F238E27FC236}">
                <a16:creationId xmlns:a16="http://schemas.microsoft.com/office/drawing/2014/main" id="{642D7808-1C2C-4592-BE22-FE05A41E46C5}"/>
              </a:ext>
            </a:extLst>
          </p:cNvPr>
          <p:cNvSpPr>
            <a:spLocks noGrp="1"/>
          </p:cNvSpPr>
          <p:nvPr/>
        </p:nvSpPr>
        <p:spPr>
          <a:xfrm>
            <a:off x="933450" y="2390775"/>
            <a:ext cx="4381500"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Colour contrast</a:t>
            </a:r>
          </a:p>
        </p:txBody>
      </p:sp>
      <p:sp>
        <p:nvSpPr>
          <p:cNvPr id="9" name="Rectangle 8">
            <a:extLst>
              <a:ext uri="{FF2B5EF4-FFF2-40B4-BE49-F238E27FC236}">
                <a16:creationId xmlns:a16="http://schemas.microsoft.com/office/drawing/2014/main" id="{FA565B63-A9D4-4321-B344-5E2C30D82F8C}"/>
              </a:ext>
            </a:extLst>
          </p:cNvPr>
          <p:cNvSpPr>
            <a:spLocks noGrp="1"/>
          </p:cNvSpPr>
          <p:nvPr/>
        </p:nvSpPr>
        <p:spPr>
          <a:xfrm>
            <a:off x="933450" y="2733675"/>
            <a:ext cx="4381500" cy="247650"/>
          </a:xfrm>
          <a:prstGeom prst="rect">
            <a:avLst/>
          </a:prstGeom>
          <a:noFill/>
          <a:ln w="0">
            <a:noFill/>
            <a:prstDash val="solid"/>
          </a:ln>
        </p:spPr>
        <p:txBody>
          <a:bodyPr/>
          <a:lstStyle/>
          <a:p>
            <a:pPr algn="l">
              <a:defRPr sz="1275" b="0">
                <a:solidFill>
                  <a:srgbClr val="627D98"/>
                </a:solidFill>
              </a:defRPr>
            </a:pPr>
            <a:r>
              <a:rPr sz="1275" b="0">
                <a:solidFill>
                  <a:srgbClr val="627D98"/>
                </a:solidFill>
              </a:rPr>
              <a:t>Dark readable text and controls</a:t>
            </a:r>
          </a:p>
        </p:txBody>
      </p:sp>
      <p:sp>
        <p:nvSpPr>
          <p:cNvPr id="10" name="Rectangle: Rounded Corners 9">
            <a:extLst>
              <a:ext uri="{FF2B5EF4-FFF2-40B4-BE49-F238E27FC236}">
                <a16:creationId xmlns:a16="http://schemas.microsoft.com/office/drawing/2014/main" id="{E918391B-C6C0-42F0-9E3E-86B0C67254B1}"/>
              </a:ext>
            </a:extLst>
          </p:cNvPr>
          <p:cNvSpPr>
            <a:spLocks noGrp="1"/>
          </p:cNvSpPr>
          <p:nvPr/>
        </p:nvSpPr>
        <p:spPr>
          <a:xfrm>
            <a:off x="685800" y="3409950"/>
            <a:ext cx="5086350" cy="914400"/>
          </a:xfrm>
          <a:prstGeom prst="roundRect">
            <a:avLst>
              <a:gd name="adj" fmla="val 12500"/>
            </a:avLst>
          </a:prstGeom>
          <a:solidFill>
            <a:srgbClr val="FFFFFF"/>
          </a:solidFill>
          <a:ln w="9525">
            <a:solidFill>
              <a:srgbClr val="CBD5E1"/>
            </a:solidFill>
            <a:prstDash val="solid"/>
          </a:ln>
        </p:spPr>
      </p:sp>
      <p:sp>
        <p:nvSpPr>
          <p:cNvPr id="11" name="Rectangle 10">
            <a:extLst>
              <a:ext uri="{FF2B5EF4-FFF2-40B4-BE49-F238E27FC236}">
                <a16:creationId xmlns:a16="http://schemas.microsoft.com/office/drawing/2014/main" id="{AD6A0DDF-F84F-4F77-8ADE-5C2B67695DC7}"/>
              </a:ext>
            </a:extLst>
          </p:cNvPr>
          <p:cNvSpPr>
            <a:spLocks noGrp="1"/>
          </p:cNvSpPr>
          <p:nvPr/>
        </p:nvSpPr>
        <p:spPr>
          <a:xfrm>
            <a:off x="933450" y="3552825"/>
            <a:ext cx="4381500"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Labels and errors</a:t>
            </a:r>
          </a:p>
        </p:txBody>
      </p:sp>
      <p:sp>
        <p:nvSpPr>
          <p:cNvPr id="12" name="Rectangle 11">
            <a:extLst>
              <a:ext uri="{FF2B5EF4-FFF2-40B4-BE49-F238E27FC236}">
                <a16:creationId xmlns:a16="http://schemas.microsoft.com/office/drawing/2014/main" id="{B8459B91-CCCC-4E3E-9533-03DA4E5B249F}"/>
              </a:ext>
            </a:extLst>
          </p:cNvPr>
          <p:cNvSpPr>
            <a:spLocks noGrp="1"/>
          </p:cNvSpPr>
          <p:nvPr/>
        </p:nvSpPr>
        <p:spPr>
          <a:xfrm>
            <a:off x="933450" y="3895725"/>
            <a:ext cx="4381500" cy="247650"/>
          </a:xfrm>
          <a:prstGeom prst="rect">
            <a:avLst/>
          </a:prstGeom>
          <a:noFill/>
          <a:ln w="0">
            <a:noFill/>
            <a:prstDash val="solid"/>
          </a:ln>
        </p:spPr>
        <p:txBody>
          <a:bodyPr/>
          <a:lstStyle/>
          <a:p>
            <a:pPr algn="l">
              <a:defRPr sz="1275" b="0">
                <a:solidFill>
                  <a:srgbClr val="627D98"/>
                </a:solidFill>
              </a:defRPr>
            </a:pPr>
            <a:r>
              <a:rPr sz="1275" b="0">
                <a:solidFill>
                  <a:srgbClr val="627D98"/>
                </a:solidFill>
              </a:rPr>
              <a:t>Every field explains what is needed</a:t>
            </a:r>
          </a:p>
        </p:txBody>
      </p:sp>
      <p:sp>
        <p:nvSpPr>
          <p:cNvPr id="13" name="Rectangle: Rounded Corners 12">
            <a:extLst>
              <a:ext uri="{FF2B5EF4-FFF2-40B4-BE49-F238E27FC236}">
                <a16:creationId xmlns:a16="http://schemas.microsoft.com/office/drawing/2014/main" id="{1C07E590-7188-48AC-84A7-5832C20A5EDE}"/>
              </a:ext>
            </a:extLst>
          </p:cNvPr>
          <p:cNvSpPr>
            <a:spLocks noGrp="1"/>
          </p:cNvSpPr>
          <p:nvPr/>
        </p:nvSpPr>
        <p:spPr>
          <a:xfrm>
            <a:off x="685800" y="4572000"/>
            <a:ext cx="5086350" cy="914400"/>
          </a:xfrm>
          <a:prstGeom prst="roundRect">
            <a:avLst>
              <a:gd name="adj" fmla="val 12500"/>
            </a:avLst>
          </a:prstGeom>
          <a:solidFill>
            <a:srgbClr val="FFFFFF"/>
          </a:solidFill>
          <a:ln w="9525">
            <a:solidFill>
              <a:srgbClr val="CBD5E1"/>
            </a:solidFill>
            <a:prstDash val="solid"/>
          </a:ln>
        </p:spPr>
      </p:sp>
      <p:sp>
        <p:nvSpPr>
          <p:cNvPr id="14" name="Rectangle 13">
            <a:extLst>
              <a:ext uri="{FF2B5EF4-FFF2-40B4-BE49-F238E27FC236}">
                <a16:creationId xmlns:a16="http://schemas.microsoft.com/office/drawing/2014/main" id="{94BA4762-A6FA-4715-8969-7AFA6E51CF21}"/>
              </a:ext>
            </a:extLst>
          </p:cNvPr>
          <p:cNvSpPr>
            <a:spLocks noGrp="1"/>
          </p:cNvSpPr>
          <p:nvPr/>
        </p:nvSpPr>
        <p:spPr>
          <a:xfrm>
            <a:off x="933450" y="4714875"/>
            <a:ext cx="4381500"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Keyboard access</a:t>
            </a:r>
          </a:p>
        </p:txBody>
      </p:sp>
      <p:sp>
        <p:nvSpPr>
          <p:cNvPr id="15" name="Rectangle 14">
            <a:extLst>
              <a:ext uri="{FF2B5EF4-FFF2-40B4-BE49-F238E27FC236}">
                <a16:creationId xmlns:a16="http://schemas.microsoft.com/office/drawing/2014/main" id="{06614653-5B8C-4E0E-AF6E-5E2B806FFD1D}"/>
              </a:ext>
            </a:extLst>
          </p:cNvPr>
          <p:cNvSpPr>
            <a:spLocks noGrp="1"/>
          </p:cNvSpPr>
          <p:nvPr/>
        </p:nvSpPr>
        <p:spPr>
          <a:xfrm>
            <a:off x="933450" y="5057775"/>
            <a:ext cx="4381500" cy="247650"/>
          </a:xfrm>
          <a:prstGeom prst="rect">
            <a:avLst/>
          </a:prstGeom>
          <a:noFill/>
          <a:ln w="0">
            <a:noFill/>
            <a:prstDash val="solid"/>
          </a:ln>
        </p:spPr>
        <p:txBody>
          <a:bodyPr/>
          <a:lstStyle/>
          <a:p>
            <a:pPr algn="l">
              <a:defRPr sz="1275" b="0">
                <a:solidFill>
                  <a:srgbClr val="627D98"/>
                </a:solidFill>
              </a:defRPr>
            </a:pPr>
            <a:r>
              <a:rPr sz="1275" b="0">
                <a:solidFill>
                  <a:srgbClr val="627D98"/>
                </a:solidFill>
              </a:rPr>
              <a:t>Skip link and visible focus</a:t>
            </a:r>
          </a:p>
        </p:txBody>
      </p:sp>
      <p:sp>
        <p:nvSpPr>
          <p:cNvPr id="16" name="Rectangle: Rounded Corners 15">
            <a:extLst>
              <a:ext uri="{FF2B5EF4-FFF2-40B4-BE49-F238E27FC236}">
                <a16:creationId xmlns:a16="http://schemas.microsoft.com/office/drawing/2014/main" id="{BEFA23B7-F4B1-4500-91C4-2CE51C0AE676}"/>
              </a:ext>
            </a:extLst>
          </p:cNvPr>
          <p:cNvSpPr>
            <a:spLocks noGrp="1"/>
          </p:cNvSpPr>
          <p:nvPr/>
        </p:nvSpPr>
        <p:spPr>
          <a:xfrm>
            <a:off x="6419850" y="2247900"/>
            <a:ext cx="5086350" cy="914400"/>
          </a:xfrm>
          <a:prstGeom prst="roundRect">
            <a:avLst>
              <a:gd name="adj" fmla="val 12500"/>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2F8945F6-EB9A-40C6-811D-0BBD8CAC6158}"/>
              </a:ext>
            </a:extLst>
          </p:cNvPr>
          <p:cNvSpPr>
            <a:spLocks noGrp="1"/>
          </p:cNvSpPr>
          <p:nvPr/>
        </p:nvSpPr>
        <p:spPr>
          <a:xfrm>
            <a:off x="6667500" y="2390775"/>
            <a:ext cx="4381500"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Page titles</a:t>
            </a:r>
          </a:p>
        </p:txBody>
      </p:sp>
      <p:sp>
        <p:nvSpPr>
          <p:cNvPr id="18" name="Rectangle 17">
            <a:extLst>
              <a:ext uri="{FF2B5EF4-FFF2-40B4-BE49-F238E27FC236}">
                <a16:creationId xmlns:a16="http://schemas.microsoft.com/office/drawing/2014/main" id="{A45622D1-FBFB-4D70-96F4-8BA2DC1ED465}"/>
              </a:ext>
            </a:extLst>
          </p:cNvPr>
          <p:cNvSpPr>
            <a:spLocks noGrp="1"/>
          </p:cNvSpPr>
          <p:nvPr/>
        </p:nvSpPr>
        <p:spPr>
          <a:xfrm>
            <a:off x="6667500" y="2733675"/>
            <a:ext cx="4381500" cy="247650"/>
          </a:xfrm>
          <a:prstGeom prst="rect">
            <a:avLst/>
          </a:prstGeom>
          <a:noFill/>
          <a:ln w="0">
            <a:noFill/>
            <a:prstDash val="solid"/>
          </a:ln>
        </p:spPr>
        <p:txBody>
          <a:bodyPr/>
          <a:lstStyle/>
          <a:p>
            <a:pPr algn="l">
              <a:defRPr sz="1275" b="0">
                <a:solidFill>
                  <a:srgbClr val="627D98"/>
                </a:solidFill>
              </a:defRPr>
            </a:pPr>
            <a:r>
              <a:rPr sz="1275" b="0">
                <a:solidFill>
                  <a:srgbClr val="627D98"/>
                </a:solidFill>
              </a:rPr>
              <a:t>A unique title for every page</a:t>
            </a:r>
          </a:p>
        </p:txBody>
      </p:sp>
      <p:sp>
        <p:nvSpPr>
          <p:cNvPr id="19" name="Rectangle: Rounded Corners 18">
            <a:extLst>
              <a:ext uri="{FF2B5EF4-FFF2-40B4-BE49-F238E27FC236}">
                <a16:creationId xmlns:a16="http://schemas.microsoft.com/office/drawing/2014/main" id="{AA7C75E5-BCDF-456C-AE88-DEEC7E718E26}"/>
              </a:ext>
            </a:extLst>
          </p:cNvPr>
          <p:cNvSpPr>
            <a:spLocks noGrp="1"/>
          </p:cNvSpPr>
          <p:nvPr/>
        </p:nvSpPr>
        <p:spPr>
          <a:xfrm>
            <a:off x="6419850" y="3409950"/>
            <a:ext cx="5086350" cy="914400"/>
          </a:xfrm>
          <a:prstGeom prst="roundRect">
            <a:avLst>
              <a:gd name="adj" fmla="val 12500"/>
            </a:avLst>
          </a:prstGeom>
          <a:solidFill>
            <a:srgbClr val="FFFFFF"/>
          </a:solidFill>
          <a:ln w="9525">
            <a:solidFill>
              <a:srgbClr val="CBD5E1"/>
            </a:solidFill>
            <a:prstDash val="solid"/>
          </a:ln>
        </p:spPr>
      </p:sp>
      <p:sp>
        <p:nvSpPr>
          <p:cNvPr id="20" name="Rectangle 19">
            <a:extLst>
              <a:ext uri="{FF2B5EF4-FFF2-40B4-BE49-F238E27FC236}">
                <a16:creationId xmlns:a16="http://schemas.microsoft.com/office/drawing/2014/main" id="{28A42B05-4675-4140-9B20-B54A9A2A32AC}"/>
              </a:ext>
            </a:extLst>
          </p:cNvPr>
          <p:cNvSpPr>
            <a:spLocks noGrp="1"/>
          </p:cNvSpPr>
          <p:nvPr/>
        </p:nvSpPr>
        <p:spPr>
          <a:xfrm>
            <a:off x="6667500" y="3552825"/>
            <a:ext cx="4381500"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Descriptions</a:t>
            </a:r>
          </a:p>
        </p:txBody>
      </p:sp>
      <p:sp>
        <p:nvSpPr>
          <p:cNvPr id="21" name="Rectangle 20">
            <a:extLst>
              <a:ext uri="{FF2B5EF4-FFF2-40B4-BE49-F238E27FC236}">
                <a16:creationId xmlns:a16="http://schemas.microsoft.com/office/drawing/2014/main" id="{F6A89F50-F74E-4F80-BC00-BCE33E7B6870}"/>
              </a:ext>
            </a:extLst>
          </p:cNvPr>
          <p:cNvSpPr>
            <a:spLocks noGrp="1"/>
          </p:cNvSpPr>
          <p:nvPr/>
        </p:nvSpPr>
        <p:spPr>
          <a:xfrm>
            <a:off x="6667500" y="3895725"/>
            <a:ext cx="4381500" cy="247650"/>
          </a:xfrm>
          <a:prstGeom prst="rect">
            <a:avLst/>
          </a:prstGeom>
          <a:noFill/>
          <a:ln w="0">
            <a:noFill/>
            <a:prstDash val="solid"/>
          </a:ln>
        </p:spPr>
        <p:txBody>
          <a:bodyPr/>
          <a:lstStyle/>
          <a:p>
            <a:pPr algn="l">
              <a:defRPr sz="1275" b="0">
                <a:solidFill>
                  <a:srgbClr val="627D98"/>
                </a:solidFill>
              </a:defRPr>
            </a:pPr>
            <a:r>
              <a:rPr sz="1275" b="0">
                <a:solidFill>
                  <a:srgbClr val="627D98"/>
                </a:solidFill>
              </a:rPr>
              <a:t>A useful search summary</a:t>
            </a:r>
          </a:p>
        </p:txBody>
      </p:sp>
      <p:sp>
        <p:nvSpPr>
          <p:cNvPr id="22" name="Rectangle: Rounded Corners 21">
            <a:extLst>
              <a:ext uri="{FF2B5EF4-FFF2-40B4-BE49-F238E27FC236}">
                <a16:creationId xmlns:a16="http://schemas.microsoft.com/office/drawing/2014/main" id="{6B84107F-D31F-431F-9E3B-C9ADB08E8019}"/>
              </a:ext>
            </a:extLst>
          </p:cNvPr>
          <p:cNvSpPr>
            <a:spLocks noGrp="1"/>
          </p:cNvSpPr>
          <p:nvPr/>
        </p:nvSpPr>
        <p:spPr>
          <a:xfrm>
            <a:off x="6419850" y="4572000"/>
            <a:ext cx="5086350" cy="914400"/>
          </a:xfrm>
          <a:prstGeom prst="roundRect">
            <a:avLst>
              <a:gd name="adj" fmla="val 12500"/>
            </a:avLst>
          </a:prstGeom>
          <a:solidFill>
            <a:srgbClr val="FFFFFF"/>
          </a:solidFill>
          <a:ln w="9525">
            <a:solidFill>
              <a:srgbClr val="CBD5E1"/>
            </a:solidFill>
            <a:prstDash val="solid"/>
          </a:ln>
        </p:spPr>
      </p:sp>
      <p:sp>
        <p:nvSpPr>
          <p:cNvPr id="23" name="Rectangle 22">
            <a:extLst>
              <a:ext uri="{FF2B5EF4-FFF2-40B4-BE49-F238E27FC236}">
                <a16:creationId xmlns:a16="http://schemas.microsoft.com/office/drawing/2014/main" id="{04871F38-9FF3-42F5-8680-9C1B49BB2EF0}"/>
              </a:ext>
            </a:extLst>
          </p:cNvPr>
          <p:cNvSpPr>
            <a:spLocks noGrp="1"/>
          </p:cNvSpPr>
          <p:nvPr/>
        </p:nvSpPr>
        <p:spPr>
          <a:xfrm>
            <a:off x="6667500" y="4714875"/>
            <a:ext cx="4381500" cy="266700"/>
          </a:xfrm>
          <a:prstGeom prst="rect">
            <a:avLst/>
          </a:prstGeom>
          <a:noFill/>
          <a:ln w="0">
            <a:noFill/>
            <a:prstDash val="solid"/>
          </a:ln>
        </p:spPr>
        <p:txBody>
          <a:bodyPr/>
          <a:lstStyle/>
          <a:p>
            <a:pPr algn="l">
              <a:defRPr sz="1575" b="1">
                <a:solidFill>
                  <a:srgbClr val="102A43"/>
                </a:solidFill>
              </a:defRPr>
            </a:pPr>
            <a:r>
              <a:rPr sz="1575" b="1">
                <a:solidFill>
                  <a:srgbClr val="102A43"/>
                </a:solidFill>
              </a:rPr>
              <a:t>Open Graph</a:t>
            </a:r>
          </a:p>
        </p:txBody>
      </p:sp>
      <p:sp>
        <p:nvSpPr>
          <p:cNvPr id="24" name="Rectangle 23">
            <a:extLst>
              <a:ext uri="{FF2B5EF4-FFF2-40B4-BE49-F238E27FC236}">
                <a16:creationId xmlns:a16="http://schemas.microsoft.com/office/drawing/2014/main" id="{C0F0E9BA-B2AA-4C0B-8495-E6B358AEAA17}"/>
              </a:ext>
            </a:extLst>
          </p:cNvPr>
          <p:cNvSpPr>
            <a:spLocks noGrp="1"/>
          </p:cNvSpPr>
          <p:nvPr/>
        </p:nvSpPr>
        <p:spPr>
          <a:xfrm>
            <a:off x="6667500" y="5057775"/>
            <a:ext cx="4381500" cy="247650"/>
          </a:xfrm>
          <a:prstGeom prst="rect">
            <a:avLst/>
          </a:prstGeom>
          <a:noFill/>
          <a:ln w="0">
            <a:noFill/>
            <a:prstDash val="solid"/>
          </a:ln>
        </p:spPr>
        <p:txBody>
          <a:bodyPr/>
          <a:lstStyle/>
          <a:p>
            <a:pPr algn="l">
              <a:defRPr sz="1275" b="0">
                <a:solidFill>
                  <a:srgbClr val="627D98"/>
                </a:solidFill>
              </a:defRPr>
            </a:pPr>
            <a:r>
              <a:rPr sz="1275" b="0">
                <a:solidFill>
                  <a:srgbClr val="627D98"/>
                </a:solidFill>
              </a:rPr>
              <a:t>Clear information when shared</a:t>
            </a:r>
          </a:p>
        </p:txBody>
      </p:sp>
      <p:sp>
        <p:nvSpPr>
          <p:cNvPr id="25" name="Rectangle 24">
            <a:extLst>
              <a:ext uri="{FF2B5EF4-FFF2-40B4-BE49-F238E27FC236}">
                <a16:creationId xmlns:a16="http://schemas.microsoft.com/office/drawing/2014/main" id="{EDA48E71-9947-40D1-AE44-CCD7D5762D36}"/>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26" name="Rectangle 25">
            <a:extLst>
              <a:ext uri="{FF2B5EF4-FFF2-40B4-BE49-F238E27FC236}">
                <a16:creationId xmlns:a16="http://schemas.microsoft.com/office/drawing/2014/main" id="{29A13A3A-B05A-4E98-B823-95C267F51F2A}"/>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4946918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92B4069-748A-4FD8-84C0-0B7EC662D5DF}"/>
              </a:ext>
            </a:extLst>
          </p:cNvPr>
          <p:cNvSpPr>
            <a:spLocks noGrp="1"/>
          </p:cNvSpPr>
          <p:nvPr/>
        </p:nvSpPr>
        <p:spPr>
          <a:xfrm>
            <a:off x="685800" y="400050"/>
            <a:ext cx="4953000" cy="247650"/>
          </a:xfrm>
          <a:prstGeom prst="rect">
            <a:avLst/>
          </a:prstGeom>
          <a:noFill/>
          <a:ln w="0">
            <a:noFill/>
            <a:prstDash val="solid"/>
          </a:ln>
        </p:spPr>
        <p:txBody>
          <a:bodyPr/>
          <a:lstStyle/>
          <a:p>
            <a:pPr algn="l">
              <a:defRPr sz="1050" b="1">
                <a:solidFill>
                  <a:srgbClr val="007C7A"/>
                </a:solidFill>
              </a:defRPr>
            </a:pPr>
            <a:r>
              <a:rPr sz="1050" b="1">
                <a:solidFill>
                  <a:srgbClr val="007C7A"/>
                </a:solidFill>
              </a:rPr>
              <a:t>TESTING</a:t>
            </a:r>
          </a:p>
        </p:txBody>
      </p:sp>
      <p:sp>
        <p:nvSpPr>
          <p:cNvPr id="2" name="Rectangle 1">
            <a:extLst>
              <a:ext uri="{FF2B5EF4-FFF2-40B4-BE49-F238E27FC236}">
                <a16:creationId xmlns:a16="http://schemas.microsoft.com/office/drawing/2014/main" id="{546EAF5F-4AF1-4FFE-9D4A-0DDAA900FE03}"/>
              </a:ext>
            </a:extLst>
          </p:cNvPr>
          <p:cNvSpPr>
            <a:spLocks noGrp="1"/>
          </p:cNvSpPr>
          <p:nvPr/>
        </p:nvSpPr>
        <p:spPr>
          <a:xfrm>
            <a:off x="685800" y="742950"/>
            <a:ext cx="10287000" cy="552450"/>
          </a:xfrm>
          <a:prstGeom prst="rect">
            <a:avLst/>
          </a:prstGeom>
          <a:noFill/>
          <a:ln w="0">
            <a:noFill/>
            <a:prstDash val="solid"/>
          </a:ln>
        </p:spPr>
        <p:txBody>
          <a:bodyPr/>
          <a:lstStyle/>
          <a:p>
            <a:pPr algn="l">
              <a:defRPr sz="2700" b="1">
                <a:solidFill>
                  <a:srgbClr val="102A43"/>
                </a:solidFill>
              </a:defRPr>
            </a:pPr>
            <a:r>
              <a:rPr sz="2700" b="1">
                <a:solidFill>
                  <a:srgbClr val="102A43"/>
                </a:solidFill>
              </a:rPr>
              <a:t>The important customer actions were checked, not just the appearance</a:t>
            </a:r>
          </a:p>
        </p:txBody>
      </p:sp>
      <p:sp>
        <p:nvSpPr>
          <p:cNvPr id="3" name="Rectangle 2">
            <a:extLst>
              <a:ext uri="{FF2B5EF4-FFF2-40B4-BE49-F238E27FC236}">
                <a16:creationId xmlns:a16="http://schemas.microsoft.com/office/drawing/2014/main" id="{ADED3EA0-6512-42F5-BDAD-112DB0BF2027}"/>
              </a:ext>
            </a:extLst>
          </p:cNvPr>
          <p:cNvSpPr>
            <a:spLocks noGrp="1"/>
          </p:cNvSpPr>
          <p:nvPr/>
        </p:nvSpPr>
        <p:spPr>
          <a:xfrm>
            <a:off x="11049000" y="419100"/>
            <a:ext cx="457200" cy="247650"/>
          </a:xfrm>
          <a:prstGeom prst="rect">
            <a:avLst/>
          </a:prstGeom>
          <a:noFill/>
          <a:ln w="0">
            <a:noFill/>
            <a:prstDash val="solid"/>
          </a:ln>
        </p:spPr>
        <p:txBody>
          <a:bodyPr/>
          <a:lstStyle/>
          <a:p>
            <a:pPr algn="r">
              <a:defRPr sz="1050" b="1">
                <a:solidFill>
                  <a:srgbClr val="627D98"/>
                </a:solidFill>
              </a:defRPr>
            </a:pPr>
            <a:r>
              <a:rPr sz="1050" b="1">
                <a:solidFill>
                  <a:srgbClr val="627D98"/>
                </a:solidFill>
              </a:rPr>
              <a:t>10</a:t>
            </a:r>
          </a:p>
        </p:txBody>
      </p:sp>
      <p:sp>
        <p:nvSpPr>
          <p:cNvPr id="4" name="Rectangle: Rounded Corners 3">
            <a:extLst>
              <a:ext uri="{FF2B5EF4-FFF2-40B4-BE49-F238E27FC236}">
                <a16:creationId xmlns:a16="http://schemas.microsoft.com/office/drawing/2014/main" id="{660413D2-4EB3-41A2-9E1A-133959576B7C}"/>
              </a:ext>
            </a:extLst>
          </p:cNvPr>
          <p:cNvSpPr>
            <a:spLocks noGrp="1"/>
          </p:cNvSpPr>
          <p:nvPr/>
        </p:nvSpPr>
        <p:spPr>
          <a:xfrm>
            <a:off x="685800" y="1371600"/>
            <a:ext cx="800100" cy="47625"/>
          </a:xfrm>
          <a:prstGeom prst="roundRect">
            <a:avLst>
              <a:gd name="adj" fmla="val 50000"/>
            </a:avLst>
          </a:prstGeom>
          <a:solidFill>
            <a:srgbClr val="F06C5B"/>
          </a:solidFill>
          <a:ln w="0">
            <a:noFill/>
            <a:prstDash val="solid"/>
          </a:ln>
        </p:spPr>
      </p:sp>
      <p:sp>
        <p:nvSpPr>
          <p:cNvPr id="5" name="Rectangle: Rounded Corners 4">
            <a:extLst>
              <a:ext uri="{FF2B5EF4-FFF2-40B4-BE49-F238E27FC236}">
                <a16:creationId xmlns:a16="http://schemas.microsoft.com/office/drawing/2014/main" id="{38B392A7-E546-4EFB-AF35-2D1B1BF3107F}"/>
              </a:ext>
            </a:extLst>
          </p:cNvPr>
          <p:cNvSpPr>
            <a:spLocks noGrp="1"/>
          </p:cNvSpPr>
          <p:nvPr/>
        </p:nvSpPr>
        <p:spPr>
          <a:xfrm>
            <a:off x="685800" y="1809750"/>
            <a:ext cx="4953000" cy="666750"/>
          </a:xfrm>
          <a:prstGeom prst="roundRect">
            <a:avLst>
              <a:gd name="adj" fmla="val 17143"/>
            </a:avLst>
          </a:prstGeom>
          <a:solidFill>
            <a:srgbClr val="F4F8FA"/>
          </a:solidFill>
          <a:ln w="0">
            <a:noFill/>
            <a:prstDash val="solid"/>
          </a:ln>
        </p:spPr>
      </p:sp>
      <p:sp>
        <p:nvSpPr>
          <p:cNvPr id="6" name="Rectangle: Rounded Corners 5">
            <a:extLst>
              <a:ext uri="{FF2B5EF4-FFF2-40B4-BE49-F238E27FC236}">
                <a16:creationId xmlns:a16="http://schemas.microsoft.com/office/drawing/2014/main" id="{ECE05E32-A499-4F87-AC08-A418BA79696D}"/>
              </a:ext>
            </a:extLst>
          </p:cNvPr>
          <p:cNvSpPr>
            <a:spLocks noGrp="1"/>
          </p:cNvSpPr>
          <p:nvPr/>
        </p:nvSpPr>
        <p:spPr>
          <a:xfrm>
            <a:off x="876300" y="2000250"/>
            <a:ext cx="285750" cy="285750"/>
          </a:xfrm>
          <a:prstGeom prst="roundRect">
            <a:avLst>
              <a:gd name="adj" fmla="val 50000"/>
            </a:avLst>
          </a:prstGeom>
          <a:solidFill>
            <a:srgbClr val="007C7A"/>
          </a:solidFill>
          <a:ln w="0">
            <a:noFill/>
            <a:prstDash val="solid"/>
          </a:ln>
        </p:spPr>
      </p:sp>
      <p:sp>
        <p:nvSpPr>
          <p:cNvPr id="7" name="Rectangle 6">
            <a:extLst>
              <a:ext uri="{FF2B5EF4-FFF2-40B4-BE49-F238E27FC236}">
                <a16:creationId xmlns:a16="http://schemas.microsoft.com/office/drawing/2014/main" id="{4F245550-9CCD-4989-B9FF-1A3E2EB2C716}"/>
              </a:ext>
            </a:extLst>
          </p:cNvPr>
          <p:cNvSpPr>
            <a:spLocks noGrp="1"/>
          </p:cNvSpPr>
          <p:nvPr/>
        </p:nvSpPr>
        <p:spPr>
          <a:xfrm>
            <a:off x="923925" y="20097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8" name="Rectangle 7">
            <a:extLst>
              <a:ext uri="{FF2B5EF4-FFF2-40B4-BE49-F238E27FC236}">
                <a16:creationId xmlns:a16="http://schemas.microsoft.com/office/drawing/2014/main" id="{F1C983B3-28C4-46D3-8B43-EBFD3D19568C}"/>
              </a:ext>
            </a:extLst>
          </p:cNvPr>
          <p:cNvSpPr>
            <a:spLocks noGrp="1"/>
          </p:cNvSpPr>
          <p:nvPr/>
        </p:nvSpPr>
        <p:spPr>
          <a:xfrm>
            <a:off x="1352550" y="19812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6 pages open</a:t>
            </a:r>
          </a:p>
        </p:txBody>
      </p:sp>
      <p:sp>
        <p:nvSpPr>
          <p:cNvPr id="9" name="Rectangle: Rounded Corners 8">
            <a:extLst>
              <a:ext uri="{FF2B5EF4-FFF2-40B4-BE49-F238E27FC236}">
                <a16:creationId xmlns:a16="http://schemas.microsoft.com/office/drawing/2014/main" id="{4D86F291-2995-4F91-BA1A-C339AC207064}"/>
              </a:ext>
            </a:extLst>
          </p:cNvPr>
          <p:cNvSpPr>
            <a:spLocks noGrp="1"/>
          </p:cNvSpPr>
          <p:nvPr/>
        </p:nvSpPr>
        <p:spPr>
          <a:xfrm>
            <a:off x="6076950" y="1809750"/>
            <a:ext cx="4953000" cy="666750"/>
          </a:xfrm>
          <a:prstGeom prst="roundRect">
            <a:avLst>
              <a:gd name="adj" fmla="val 17143"/>
            </a:avLst>
          </a:prstGeom>
          <a:solidFill>
            <a:srgbClr val="F4F8FA"/>
          </a:solidFill>
          <a:ln w="0">
            <a:noFill/>
            <a:prstDash val="solid"/>
          </a:ln>
        </p:spPr>
      </p:sp>
      <p:sp>
        <p:nvSpPr>
          <p:cNvPr id="10" name="Rectangle: Rounded Corners 9">
            <a:extLst>
              <a:ext uri="{FF2B5EF4-FFF2-40B4-BE49-F238E27FC236}">
                <a16:creationId xmlns:a16="http://schemas.microsoft.com/office/drawing/2014/main" id="{26904CE3-28B0-4BF4-847C-ACCDC9D9E224}"/>
              </a:ext>
            </a:extLst>
          </p:cNvPr>
          <p:cNvSpPr>
            <a:spLocks noGrp="1"/>
          </p:cNvSpPr>
          <p:nvPr/>
        </p:nvSpPr>
        <p:spPr>
          <a:xfrm>
            <a:off x="6267450" y="2000250"/>
            <a:ext cx="285750" cy="285750"/>
          </a:xfrm>
          <a:prstGeom prst="roundRect">
            <a:avLst>
              <a:gd name="adj" fmla="val 50000"/>
            </a:avLst>
          </a:prstGeom>
          <a:solidFill>
            <a:srgbClr val="007C7A"/>
          </a:solidFill>
          <a:ln w="0">
            <a:noFill/>
            <a:prstDash val="solid"/>
          </a:ln>
        </p:spPr>
      </p:sp>
      <p:sp>
        <p:nvSpPr>
          <p:cNvPr id="11" name="Rectangle 10">
            <a:extLst>
              <a:ext uri="{FF2B5EF4-FFF2-40B4-BE49-F238E27FC236}">
                <a16:creationId xmlns:a16="http://schemas.microsoft.com/office/drawing/2014/main" id="{38203055-CD13-411D-8CAE-0C48B67BF262}"/>
              </a:ext>
            </a:extLst>
          </p:cNvPr>
          <p:cNvSpPr>
            <a:spLocks noGrp="1"/>
          </p:cNvSpPr>
          <p:nvPr/>
        </p:nvSpPr>
        <p:spPr>
          <a:xfrm>
            <a:off x="6315075" y="20097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12" name="Rectangle 11">
            <a:extLst>
              <a:ext uri="{FF2B5EF4-FFF2-40B4-BE49-F238E27FC236}">
                <a16:creationId xmlns:a16="http://schemas.microsoft.com/office/drawing/2014/main" id="{F7626F26-F79A-402A-996D-F4201B26EA21}"/>
              </a:ext>
            </a:extLst>
          </p:cNvPr>
          <p:cNvSpPr>
            <a:spLocks noGrp="1"/>
          </p:cNvSpPr>
          <p:nvPr/>
        </p:nvSpPr>
        <p:spPr>
          <a:xfrm>
            <a:off x="6743700" y="19812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12 products render</a:t>
            </a:r>
          </a:p>
        </p:txBody>
      </p:sp>
      <p:sp>
        <p:nvSpPr>
          <p:cNvPr id="13" name="Rectangle: Rounded Corners 12">
            <a:extLst>
              <a:ext uri="{FF2B5EF4-FFF2-40B4-BE49-F238E27FC236}">
                <a16:creationId xmlns:a16="http://schemas.microsoft.com/office/drawing/2014/main" id="{3C30D7D0-85E4-4E9E-9A63-41F9FD655505}"/>
              </a:ext>
            </a:extLst>
          </p:cNvPr>
          <p:cNvSpPr>
            <a:spLocks noGrp="1"/>
          </p:cNvSpPr>
          <p:nvPr/>
        </p:nvSpPr>
        <p:spPr>
          <a:xfrm>
            <a:off x="685800" y="2724150"/>
            <a:ext cx="4953000" cy="666750"/>
          </a:xfrm>
          <a:prstGeom prst="roundRect">
            <a:avLst>
              <a:gd name="adj" fmla="val 17143"/>
            </a:avLst>
          </a:prstGeom>
          <a:solidFill>
            <a:srgbClr val="F4F8FA"/>
          </a:solidFill>
          <a:ln w="0">
            <a:noFill/>
            <a:prstDash val="solid"/>
          </a:ln>
        </p:spPr>
      </p:sp>
      <p:sp>
        <p:nvSpPr>
          <p:cNvPr id="14" name="Rectangle: Rounded Corners 13">
            <a:extLst>
              <a:ext uri="{FF2B5EF4-FFF2-40B4-BE49-F238E27FC236}">
                <a16:creationId xmlns:a16="http://schemas.microsoft.com/office/drawing/2014/main" id="{B7D5C06A-0CBE-45AB-B68F-8BCF0053A638}"/>
              </a:ext>
            </a:extLst>
          </p:cNvPr>
          <p:cNvSpPr>
            <a:spLocks noGrp="1"/>
          </p:cNvSpPr>
          <p:nvPr/>
        </p:nvSpPr>
        <p:spPr>
          <a:xfrm>
            <a:off x="876300" y="2914650"/>
            <a:ext cx="285750" cy="285750"/>
          </a:xfrm>
          <a:prstGeom prst="roundRect">
            <a:avLst>
              <a:gd name="adj" fmla="val 50000"/>
            </a:avLst>
          </a:prstGeom>
          <a:solidFill>
            <a:srgbClr val="007C7A"/>
          </a:solidFill>
          <a:ln w="0">
            <a:noFill/>
            <a:prstDash val="solid"/>
          </a:ln>
        </p:spPr>
      </p:sp>
      <p:sp>
        <p:nvSpPr>
          <p:cNvPr id="15" name="Rectangle 14">
            <a:extLst>
              <a:ext uri="{FF2B5EF4-FFF2-40B4-BE49-F238E27FC236}">
                <a16:creationId xmlns:a16="http://schemas.microsoft.com/office/drawing/2014/main" id="{7EB4A3DA-08EE-43DC-9F1A-9502E23C4B43}"/>
              </a:ext>
            </a:extLst>
          </p:cNvPr>
          <p:cNvSpPr>
            <a:spLocks noGrp="1"/>
          </p:cNvSpPr>
          <p:nvPr/>
        </p:nvSpPr>
        <p:spPr>
          <a:xfrm>
            <a:off x="923925" y="29241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16" name="Rectangle 15">
            <a:extLst>
              <a:ext uri="{FF2B5EF4-FFF2-40B4-BE49-F238E27FC236}">
                <a16:creationId xmlns:a16="http://schemas.microsoft.com/office/drawing/2014/main" id="{A529003A-1713-4CD9-9583-3497B3C49F41}"/>
              </a:ext>
            </a:extLst>
          </p:cNvPr>
          <p:cNvSpPr>
            <a:spLocks noGrp="1"/>
          </p:cNvSpPr>
          <p:nvPr/>
        </p:nvSpPr>
        <p:spPr>
          <a:xfrm>
            <a:off x="1352550" y="28956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Search and filters work</a:t>
            </a:r>
          </a:p>
        </p:txBody>
      </p:sp>
      <p:sp>
        <p:nvSpPr>
          <p:cNvPr id="17" name="Rectangle: Rounded Corners 16">
            <a:extLst>
              <a:ext uri="{FF2B5EF4-FFF2-40B4-BE49-F238E27FC236}">
                <a16:creationId xmlns:a16="http://schemas.microsoft.com/office/drawing/2014/main" id="{879722C0-E4A1-4EE6-BA90-4DAC4F99E030}"/>
              </a:ext>
            </a:extLst>
          </p:cNvPr>
          <p:cNvSpPr>
            <a:spLocks noGrp="1"/>
          </p:cNvSpPr>
          <p:nvPr/>
        </p:nvSpPr>
        <p:spPr>
          <a:xfrm>
            <a:off x="6076950" y="2724150"/>
            <a:ext cx="4953000" cy="666750"/>
          </a:xfrm>
          <a:prstGeom prst="roundRect">
            <a:avLst>
              <a:gd name="adj" fmla="val 17143"/>
            </a:avLst>
          </a:prstGeom>
          <a:solidFill>
            <a:srgbClr val="F4F8FA"/>
          </a:solidFill>
          <a:ln w="0">
            <a:noFill/>
            <a:prstDash val="solid"/>
          </a:ln>
        </p:spPr>
      </p:sp>
      <p:sp>
        <p:nvSpPr>
          <p:cNvPr id="18" name="Rectangle: Rounded Corners 17">
            <a:extLst>
              <a:ext uri="{FF2B5EF4-FFF2-40B4-BE49-F238E27FC236}">
                <a16:creationId xmlns:a16="http://schemas.microsoft.com/office/drawing/2014/main" id="{1F8C86AF-9697-41E5-8038-5B4D119A6228}"/>
              </a:ext>
            </a:extLst>
          </p:cNvPr>
          <p:cNvSpPr>
            <a:spLocks noGrp="1"/>
          </p:cNvSpPr>
          <p:nvPr/>
        </p:nvSpPr>
        <p:spPr>
          <a:xfrm>
            <a:off x="6267450" y="2914650"/>
            <a:ext cx="285750" cy="285750"/>
          </a:xfrm>
          <a:prstGeom prst="roundRect">
            <a:avLst>
              <a:gd name="adj" fmla="val 50000"/>
            </a:avLst>
          </a:prstGeom>
          <a:solidFill>
            <a:srgbClr val="007C7A"/>
          </a:solidFill>
          <a:ln w="0">
            <a:noFill/>
            <a:prstDash val="solid"/>
          </a:ln>
        </p:spPr>
      </p:sp>
      <p:sp>
        <p:nvSpPr>
          <p:cNvPr id="19" name="Rectangle 18">
            <a:extLst>
              <a:ext uri="{FF2B5EF4-FFF2-40B4-BE49-F238E27FC236}">
                <a16:creationId xmlns:a16="http://schemas.microsoft.com/office/drawing/2014/main" id="{79EA050C-86CE-461E-B997-D9121678E3B9}"/>
              </a:ext>
            </a:extLst>
          </p:cNvPr>
          <p:cNvSpPr>
            <a:spLocks noGrp="1"/>
          </p:cNvSpPr>
          <p:nvPr/>
        </p:nvSpPr>
        <p:spPr>
          <a:xfrm>
            <a:off x="6315075" y="29241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20" name="Rectangle 19">
            <a:extLst>
              <a:ext uri="{FF2B5EF4-FFF2-40B4-BE49-F238E27FC236}">
                <a16:creationId xmlns:a16="http://schemas.microsoft.com/office/drawing/2014/main" id="{F1051084-C00D-4252-BEF1-58FFA9923F04}"/>
              </a:ext>
            </a:extLst>
          </p:cNvPr>
          <p:cNvSpPr>
            <a:spLocks noGrp="1"/>
          </p:cNvSpPr>
          <p:nvPr/>
        </p:nvSpPr>
        <p:spPr>
          <a:xfrm>
            <a:off x="6743700" y="28956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Details match product</a:t>
            </a:r>
          </a:p>
        </p:txBody>
      </p:sp>
      <p:sp>
        <p:nvSpPr>
          <p:cNvPr id="21" name="Rectangle: Rounded Corners 20">
            <a:extLst>
              <a:ext uri="{FF2B5EF4-FFF2-40B4-BE49-F238E27FC236}">
                <a16:creationId xmlns:a16="http://schemas.microsoft.com/office/drawing/2014/main" id="{99A98D20-3C1B-48B8-B7E0-22DE4617DFFC}"/>
              </a:ext>
            </a:extLst>
          </p:cNvPr>
          <p:cNvSpPr>
            <a:spLocks noGrp="1"/>
          </p:cNvSpPr>
          <p:nvPr/>
        </p:nvSpPr>
        <p:spPr>
          <a:xfrm>
            <a:off x="685800" y="3638550"/>
            <a:ext cx="4953000" cy="666750"/>
          </a:xfrm>
          <a:prstGeom prst="roundRect">
            <a:avLst>
              <a:gd name="adj" fmla="val 17143"/>
            </a:avLst>
          </a:prstGeom>
          <a:solidFill>
            <a:srgbClr val="F4F8FA"/>
          </a:solidFill>
          <a:ln w="0">
            <a:noFill/>
            <a:prstDash val="solid"/>
          </a:ln>
        </p:spPr>
      </p:sp>
      <p:sp>
        <p:nvSpPr>
          <p:cNvPr id="22" name="Rectangle: Rounded Corners 21">
            <a:extLst>
              <a:ext uri="{FF2B5EF4-FFF2-40B4-BE49-F238E27FC236}">
                <a16:creationId xmlns:a16="http://schemas.microsoft.com/office/drawing/2014/main" id="{EE5AA785-7BA9-4B87-885C-14A4EDAEBD6A}"/>
              </a:ext>
            </a:extLst>
          </p:cNvPr>
          <p:cNvSpPr>
            <a:spLocks noGrp="1"/>
          </p:cNvSpPr>
          <p:nvPr/>
        </p:nvSpPr>
        <p:spPr>
          <a:xfrm>
            <a:off x="876300" y="3829050"/>
            <a:ext cx="285750" cy="285750"/>
          </a:xfrm>
          <a:prstGeom prst="roundRect">
            <a:avLst>
              <a:gd name="adj" fmla="val 50000"/>
            </a:avLst>
          </a:prstGeom>
          <a:solidFill>
            <a:srgbClr val="007C7A"/>
          </a:solidFill>
          <a:ln w="0">
            <a:noFill/>
            <a:prstDash val="solid"/>
          </a:ln>
        </p:spPr>
      </p:sp>
      <p:sp>
        <p:nvSpPr>
          <p:cNvPr id="23" name="Rectangle 22">
            <a:extLst>
              <a:ext uri="{FF2B5EF4-FFF2-40B4-BE49-F238E27FC236}">
                <a16:creationId xmlns:a16="http://schemas.microsoft.com/office/drawing/2014/main" id="{04B2F658-8836-459B-B4B5-4DB23992D63B}"/>
              </a:ext>
            </a:extLst>
          </p:cNvPr>
          <p:cNvSpPr>
            <a:spLocks noGrp="1"/>
          </p:cNvSpPr>
          <p:nvPr/>
        </p:nvSpPr>
        <p:spPr>
          <a:xfrm>
            <a:off x="923925" y="38385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24" name="Rectangle 23">
            <a:extLst>
              <a:ext uri="{FF2B5EF4-FFF2-40B4-BE49-F238E27FC236}">
                <a16:creationId xmlns:a16="http://schemas.microsoft.com/office/drawing/2014/main" id="{43B3DD21-80C3-4ACE-80DC-7D33A072E636}"/>
              </a:ext>
            </a:extLst>
          </p:cNvPr>
          <p:cNvSpPr>
            <a:spLocks noGrp="1"/>
          </p:cNvSpPr>
          <p:nvPr/>
        </p:nvSpPr>
        <p:spPr>
          <a:xfrm>
            <a:off x="1352550" y="38100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Cart totals update</a:t>
            </a:r>
          </a:p>
        </p:txBody>
      </p:sp>
      <p:sp>
        <p:nvSpPr>
          <p:cNvPr id="25" name="Rectangle: Rounded Corners 24">
            <a:extLst>
              <a:ext uri="{FF2B5EF4-FFF2-40B4-BE49-F238E27FC236}">
                <a16:creationId xmlns:a16="http://schemas.microsoft.com/office/drawing/2014/main" id="{ACE0ED5E-35C2-4F01-8064-0C8777BF07F2}"/>
              </a:ext>
            </a:extLst>
          </p:cNvPr>
          <p:cNvSpPr>
            <a:spLocks noGrp="1"/>
          </p:cNvSpPr>
          <p:nvPr/>
        </p:nvSpPr>
        <p:spPr>
          <a:xfrm>
            <a:off x="6076950" y="3638550"/>
            <a:ext cx="4953000" cy="666750"/>
          </a:xfrm>
          <a:prstGeom prst="roundRect">
            <a:avLst>
              <a:gd name="adj" fmla="val 17143"/>
            </a:avLst>
          </a:prstGeom>
          <a:solidFill>
            <a:srgbClr val="F4F8FA"/>
          </a:solidFill>
          <a:ln w="0">
            <a:noFill/>
            <a:prstDash val="solid"/>
          </a:ln>
        </p:spPr>
      </p:sp>
      <p:sp>
        <p:nvSpPr>
          <p:cNvPr id="26" name="Rectangle: Rounded Corners 25">
            <a:extLst>
              <a:ext uri="{FF2B5EF4-FFF2-40B4-BE49-F238E27FC236}">
                <a16:creationId xmlns:a16="http://schemas.microsoft.com/office/drawing/2014/main" id="{D607E0A4-F5B1-410D-8F9C-1946BCF61173}"/>
              </a:ext>
            </a:extLst>
          </p:cNvPr>
          <p:cNvSpPr>
            <a:spLocks noGrp="1"/>
          </p:cNvSpPr>
          <p:nvPr/>
        </p:nvSpPr>
        <p:spPr>
          <a:xfrm>
            <a:off x="6267450" y="3829050"/>
            <a:ext cx="285750" cy="285750"/>
          </a:xfrm>
          <a:prstGeom prst="roundRect">
            <a:avLst>
              <a:gd name="adj" fmla="val 50000"/>
            </a:avLst>
          </a:prstGeom>
          <a:solidFill>
            <a:srgbClr val="007C7A"/>
          </a:solidFill>
          <a:ln w="0">
            <a:noFill/>
            <a:prstDash val="solid"/>
          </a:ln>
        </p:spPr>
      </p:sp>
      <p:sp>
        <p:nvSpPr>
          <p:cNvPr id="27" name="Rectangle 26">
            <a:extLst>
              <a:ext uri="{FF2B5EF4-FFF2-40B4-BE49-F238E27FC236}">
                <a16:creationId xmlns:a16="http://schemas.microsoft.com/office/drawing/2014/main" id="{CF76D39B-17AA-41F4-A790-0DB69B72F581}"/>
              </a:ext>
            </a:extLst>
          </p:cNvPr>
          <p:cNvSpPr>
            <a:spLocks noGrp="1"/>
          </p:cNvSpPr>
          <p:nvPr/>
        </p:nvSpPr>
        <p:spPr>
          <a:xfrm>
            <a:off x="6315075" y="38385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28" name="Rectangle 27">
            <a:extLst>
              <a:ext uri="{FF2B5EF4-FFF2-40B4-BE49-F238E27FC236}">
                <a16:creationId xmlns:a16="http://schemas.microsoft.com/office/drawing/2014/main" id="{308C36C8-0B73-44B7-A519-0FAFEE1B2AE3}"/>
              </a:ext>
            </a:extLst>
          </p:cNvPr>
          <p:cNvSpPr>
            <a:spLocks noGrp="1"/>
          </p:cNvSpPr>
          <p:nvPr/>
        </p:nvSpPr>
        <p:spPr>
          <a:xfrm>
            <a:off x="6743700" y="38100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Forms show errors</a:t>
            </a:r>
          </a:p>
        </p:txBody>
      </p:sp>
      <p:sp>
        <p:nvSpPr>
          <p:cNvPr id="29" name="Rectangle: Rounded Corners 28">
            <a:extLst>
              <a:ext uri="{FF2B5EF4-FFF2-40B4-BE49-F238E27FC236}">
                <a16:creationId xmlns:a16="http://schemas.microsoft.com/office/drawing/2014/main" id="{F168A666-03E0-41F7-B296-B0D6E1B3EEEC}"/>
              </a:ext>
            </a:extLst>
          </p:cNvPr>
          <p:cNvSpPr>
            <a:spLocks noGrp="1"/>
          </p:cNvSpPr>
          <p:nvPr/>
        </p:nvSpPr>
        <p:spPr>
          <a:xfrm>
            <a:off x="685800" y="4552950"/>
            <a:ext cx="4953000" cy="666750"/>
          </a:xfrm>
          <a:prstGeom prst="roundRect">
            <a:avLst>
              <a:gd name="adj" fmla="val 17143"/>
            </a:avLst>
          </a:prstGeom>
          <a:solidFill>
            <a:srgbClr val="EAF7F5"/>
          </a:solidFill>
          <a:ln w="0">
            <a:noFill/>
            <a:prstDash val="solid"/>
          </a:ln>
        </p:spPr>
      </p:sp>
      <p:sp>
        <p:nvSpPr>
          <p:cNvPr id="30" name="Rectangle: Rounded Corners 29">
            <a:extLst>
              <a:ext uri="{FF2B5EF4-FFF2-40B4-BE49-F238E27FC236}">
                <a16:creationId xmlns:a16="http://schemas.microsoft.com/office/drawing/2014/main" id="{92644D4E-D01E-447C-98EF-2E262F630CD4}"/>
              </a:ext>
            </a:extLst>
          </p:cNvPr>
          <p:cNvSpPr>
            <a:spLocks noGrp="1"/>
          </p:cNvSpPr>
          <p:nvPr/>
        </p:nvSpPr>
        <p:spPr>
          <a:xfrm>
            <a:off x="876300" y="4743450"/>
            <a:ext cx="285750" cy="285750"/>
          </a:xfrm>
          <a:prstGeom prst="roundRect">
            <a:avLst>
              <a:gd name="adj" fmla="val 50000"/>
            </a:avLst>
          </a:prstGeom>
          <a:solidFill>
            <a:srgbClr val="007C7A"/>
          </a:solidFill>
          <a:ln w="0">
            <a:noFill/>
            <a:prstDash val="solid"/>
          </a:ln>
        </p:spPr>
      </p:sp>
      <p:sp>
        <p:nvSpPr>
          <p:cNvPr id="31" name="Rectangle 30">
            <a:extLst>
              <a:ext uri="{FF2B5EF4-FFF2-40B4-BE49-F238E27FC236}">
                <a16:creationId xmlns:a16="http://schemas.microsoft.com/office/drawing/2014/main" id="{09A38E8A-8E1F-460C-921C-2AE3243278DF}"/>
              </a:ext>
            </a:extLst>
          </p:cNvPr>
          <p:cNvSpPr>
            <a:spLocks noGrp="1"/>
          </p:cNvSpPr>
          <p:nvPr/>
        </p:nvSpPr>
        <p:spPr>
          <a:xfrm>
            <a:off x="923925" y="47529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32" name="Rectangle 31">
            <a:extLst>
              <a:ext uri="{FF2B5EF4-FFF2-40B4-BE49-F238E27FC236}">
                <a16:creationId xmlns:a16="http://schemas.microsoft.com/office/drawing/2014/main" id="{A56F03E2-B667-475D-92BB-6DDB8F933C85}"/>
              </a:ext>
            </a:extLst>
          </p:cNvPr>
          <p:cNvSpPr>
            <a:spLocks noGrp="1"/>
          </p:cNvSpPr>
          <p:nvPr/>
        </p:nvSpPr>
        <p:spPr>
          <a:xfrm>
            <a:off x="1352550" y="47244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3 viewport widths</a:t>
            </a:r>
          </a:p>
        </p:txBody>
      </p:sp>
      <p:sp>
        <p:nvSpPr>
          <p:cNvPr id="33" name="Rectangle: Rounded Corners 32">
            <a:extLst>
              <a:ext uri="{FF2B5EF4-FFF2-40B4-BE49-F238E27FC236}">
                <a16:creationId xmlns:a16="http://schemas.microsoft.com/office/drawing/2014/main" id="{504D2CD7-4FFB-4A92-BA6E-619BC6A8C847}"/>
              </a:ext>
            </a:extLst>
          </p:cNvPr>
          <p:cNvSpPr>
            <a:spLocks noGrp="1"/>
          </p:cNvSpPr>
          <p:nvPr/>
        </p:nvSpPr>
        <p:spPr>
          <a:xfrm>
            <a:off x="6076950" y="4552950"/>
            <a:ext cx="4953000" cy="666750"/>
          </a:xfrm>
          <a:prstGeom prst="roundRect">
            <a:avLst>
              <a:gd name="adj" fmla="val 17143"/>
            </a:avLst>
          </a:prstGeom>
          <a:solidFill>
            <a:srgbClr val="EAF7F5"/>
          </a:solidFill>
          <a:ln w="0">
            <a:noFill/>
            <a:prstDash val="solid"/>
          </a:ln>
        </p:spPr>
      </p:sp>
      <p:sp>
        <p:nvSpPr>
          <p:cNvPr id="34" name="Rectangle: Rounded Corners 33">
            <a:extLst>
              <a:ext uri="{FF2B5EF4-FFF2-40B4-BE49-F238E27FC236}">
                <a16:creationId xmlns:a16="http://schemas.microsoft.com/office/drawing/2014/main" id="{63B369A1-8D32-4AF6-8A54-33FED31482F7}"/>
              </a:ext>
            </a:extLst>
          </p:cNvPr>
          <p:cNvSpPr>
            <a:spLocks noGrp="1"/>
          </p:cNvSpPr>
          <p:nvPr/>
        </p:nvSpPr>
        <p:spPr>
          <a:xfrm>
            <a:off x="6267450" y="4743450"/>
            <a:ext cx="285750" cy="285750"/>
          </a:xfrm>
          <a:prstGeom prst="roundRect">
            <a:avLst>
              <a:gd name="adj" fmla="val 50000"/>
            </a:avLst>
          </a:prstGeom>
          <a:solidFill>
            <a:srgbClr val="007C7A"/>
          </a:solidFill>
          <a:ln w="0">
            <a:noFill/>
            <a:prstDash val="solid"/>
          </a:ln>
        </p:spPr>
      </p:sp>
      <p:sp>
        <p:nvSpPr>
          <p:cNvPr id="35" name="Rectangle 34">
            <a:extLst>
              <a:ext uri="{FF2B5EF4-FFF2-40B4-BE49-F238E27FC236}">
                <a16:creationId xmlns:a16="http://schemas.microsoft.com/office/drawing/2014/main" id="{D8FC05FF-37F2-43C6-9736-A02AD13374AF}"/>
              </a:ext>
            </a:extLst>
          </p:cNvPr>
          <p:cNvSpPr>
            <a:spLocks noGrp="1"/>
          </p:cNvSpPr>
          <p:nvPr/>
        </p:nvSpPr>
        <p:spPr>
          <a:xfrm>
            <a:off x="6315075" y="4752975"/>
            <a:ext cx="190500" cy="209550"/>
          </a:xfrm>
          <a:prstGeom prst="rect">
            <a:avLst/>
          </a:prstGeom>
          <a:noFill/>
          <a:ln w="0">
            <a:noFill/>
            <a:prstDash val="solid"/>
          </a:ln>
        </p:spPr>
        <p:txBody>
          <a:bodyPr/>
          <a:lstStyle/>
          <a:p>
            <a:pPr algn="ctr">
              <a:defRPr sz="1200" b="1">
                <a:solidFill>
                  <a:srgbClr val="FFFFFF"/>
                </a:solidFill>
              </a:defRPr>
            </a:pPr>
            <a:r>
              <a:rPr sz="1200" b="1">
                <a:solidFill>
                  <a:srgbClr val="FFFFFF"/>
                </a:solidFill>
              </a:rPr>
              <a:t>✓</a:t>
            </a:r>
          </a:p>
        </p:txBody>
      </p:sp>
      <p:sp>
        <p:nvSpPr>
          <p:cNvPr id="36" name="Rectangle 35">
            <a:extLst>
              <a:ext uri="{FF2B5EF4-FFF2-40B4-BE49-F238E27FC236}">
                <a16:creationId xmlns:a16="http://schemas.microsoft.com/office/drawing/2014/main" id="{36EF48EE-2915-4D57-B6A3-CBCEF614355D}"/>
              </a:ext>
            </a:extLst>
          </p:cNvPr>
          <p:cNvSpPr>
            <a:spLocks noGrp="1"/>
          </p:cNvSpPr>
          <p:nvPr/>
        </p:nvSpPr>
        <p:spPr>
          <a:xfrm>
            <a:off x="6743700" y="4724400"/>
            <a:ext cx="3905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Keyboard focus visible</a:t>
            </a:r>
          </a:p>
        </p:txBody>
      </p:sp>
      <p:sp>
        <p:nvSpPr>
          <p:cNvPr id="37" name="Rectangle 36">
            <a:extLst>
              <a:ext uri="{FF2B5EF4-FFF2-40B4-BE49-F238E27FC236}">
                <a16:creationId xmlns:a16="http://schemas.microsoft.com/office/drawing/2014/main" id="{42D926E1-6C28-4DAA-8142-A8F1ACD5644D}"/>
              </a:ext>
            </a:extLst>
          </p:cNvPr>
          <p:cNvSpPr>
            <a:spLocks noGrp="1"/>
          </p:cNvSpPr>
          <p:nvPr/>
        </p:nvSpPr>
        <p:spPr>
          <a:xfrm>
            <a:off x="685800" y="6457950"/>
            <a:ext cx="4572000" cy="190500"/>
          </a:xfrm>
          <a:prstGeom prst="rect">
            <a:avLst/>
          </a:prstGeom>
          <a:noFill/>
          <a:ln w="0">
            <a:noFill/>
            <a:prstDash val="solid"/>
          </a:ln>
        </p:spPr>
        <p:txBody>
          <a:bodyPr/>
          <a:lstStyle/>
          <a:p>
            <a:pPr algn="l">
              <a:defRPr sz="825" b="1">
                <a:solidFill>
                  <a:srgbClr val="627D98"/>
                </a:solidFill>
              </a:defRPr>
            </a:pPr>
            <a:r>
              <a:rPr sz="825" b="1">
                <a:solidFill>
                  <a:srgbClr val="627D98"/>
                </a:solidFill>
              </a:rPr>
              <a:t>FARAH ARSLAN  •  CPU4104-20C</a:t>
            </a:r>
          </a:p>
        </p:txBody>
      </p:sp>
      <p:sp>
        <p:nvSpPr>
          <p:cNvPr id="38" name="Rectangle 37">
            <a:extLst>
              <a:ext uri="{FF2B5EF4-FFF2-40B4-BE49-F238E27FC236}">
                <a16:creationId xmlns:a16="http://schemas.microsoft.com/office/drawing/2014/main" id="{E2A0F2AB-3B69-4150-B39D-BDEF93B11FF8}"/>
              </a:ext>
            </a:extLst>
          </p:cNvPr>
          <p:cNvSpPr>
            <a:spLocks noGrp="1"/>
          </p:cNvSpPr>
          <p:nvPr/>
        </p:nvSpPr>
        <p:spPr>
          <a:xfrm>
            <a:off x="8572500" y="6457950"/>
            <a:ext cx="2933700" cy="190500"/>
          </a:xfrm>
          <a:prstGeom prst="rect">
            <a:avLst/>
          </a:prstGeom>
          <a:noFill/>
          <a:ln w="0">
            <a:noFill/>
            <a:prstDash val="solid"/>
          </a:ln>
        </p:spPr>
        <p:txBody>
          <a:bodyPr/>
          <a:lstStyle/>
          <a:p>
            <a:pPr algn="r">
              <a:defRPr sz="825" b="1">
                <a:solidFill>
                  <a:srgbClr val="007C7A"/>
                </a:solidFill>
              </a:defRPr>
            </a:pPr>
            <a:r>
              <a:rPr sz="825" b="1">
                <a:solidFill>
                  <a:srgbClr val="007C7A"/>
                </a:solidFill>
              </a:rPr>
              <a:t>NOVAVOLT ELECTRONICS</a:t>
            </a:r>
          </a:p>
        </p:txBody>
      </p:sp>
    </p:spTree>
    <p:extLst>
      <p:ext uri="{BB962C8B-B14F-4D97-AF65-F5344CB8AC3E}">
        <p14:creationId xmlns:p14="http://schemas.microsoft.com/office/powerpoint/2010/main" val="13392118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334C733-1927-47F0-9335-F8B6136F6F92}"/>
              </a:ext>
            </a:extLst>
          </p:cNvPr>
          <p:cNvSpPr>
            <a:spLocks noGrp="1"/>
          </p:cNvSpPr>
          <p:nvPr/>
        </p:nvSpPr>
        <p:spPr>
          <a:xfrm>
            <a:off x="685800" y="571500"/>
            <a:ext cx="4762500" cy="266700"/>
          </a:xfrm>
          <a:prstGeom prst="rect">
            <a:avLst/>
          </a:prstGeom>
          <a:noFill/>
          <a:ln w="0">
            <a:noFill/>
            <a:prstDash val="solid"/>
          </a:ln>
        </p:spPr>
        <p:txBody>
          <a:bodyPr/>
          <a:lstStyle/>
          <a:p>
            <a:pPr algn="l">
              <a:defRPr sz="1125" b="1">
                <a:solidFill>
                  <a:srgbClr val="F5B942"/>
                </a:solidFill>
              </a:defRPr>
            </a:pPr>
            <a:r>
              <a:rPr sz="1125" b="1">
                <a:solidFill>
                  <a:srgbClr val="F5B942"/>
                </a:solidFill>
              </a:rPr>
              <a:t>WHAT I LEARNED</a:t>
            </a:r>
          </a:p>
        </p:txBody>
      </p:sp>
      <p:sp>
        <p:nvSpPr>
          <p:cNvPr id="2" name="Rectangle 1">
            <a:extLst>
              <a:ext uri="{FF2B5EF4-FFF2-40B4-BE49-F238E27FC236}">
                <a16:creationId xmlns:a16="http://schemas.microsoft.com/office/drawing/2014/main" id="{317E4B6A-B2CB-4F78-A141-13D1AFA79480}"/>
              </a:ext>
            </a:extLst>
          </p:cNvPr>
          <p:cNvSpPr>
            <a:spLocks noGrp="1"/>
          </p:cNvSpPr>
          <p:nvPr/>
        </p:nvSpPr>
        <p:spPr>
          <a:xfrm>
            <a:off x="685800" y="1066800"/>
            <a:ext cx="8858250" cy="1066800"/>
          </a:xfrm>
          <a:prstGeom prst="rect">
            <a:avLst/>
          </a:prstGeom>
          <a:noFill/>
          <a:ln w="0">
            <a:noFill/>
            <a:prstDash val="solid"/>
          </a:ln>
        </p:spPr>
        <p:txBody>
          <a:bodyPr/>
          <a:lstStyle/>
          <a:p>
            <a:pPr algn="l">
              <a:defRPr sz="3225" b="1">
                <a:solidFill>
                  <a:srgbClr val="FFFFFF"/>
                </a:solidFill>
              </a:defRPr>
            </a:pPr>
            <a:r>
              <a:rPr sz="3225" b="1">
                <a:solidFill>
                  <a:srgbClr val="FFFFFF"/>
                </a:solidFill>
              </a:rPr>
              <a:t>The three technologies work best when each one has a clear job.</a:t>
            </a:r>
          </a:p>
        </p:txBody>
      </p:sp>
      <p:sp>
        <p:nvSpPr>
          <p:cNvPr id="3" name="Rectangle: Rounded Corners 2">
            <a:extLst>
              <a:ext uri="{FF2B5EF4-FFF2-40B4-BE49-F238E27FC236}">
                <a16:creationId xmlns:a16="http://schemas.microsoft.com/office/drawing/2014/main" id="{4BAA0310-5A1B-4B11-9162-BEE4251D655D}"/>
              </a:ext>
            </a:extLst>
          </p:cNvPr>
          <p:cNvSpPr>
            <a:spLocks noGrp="1"/>
          </p:cNvSpPr>
          <p:nvPr/>
        </p:nvSpPr>
        <p:spPr>
          <a:xfrm>
            <a:off x="685800" y="2619375"/>
            <a:ext cx="3238500" cy="2095500"/>
          </a:xfrm>
          <a:prstGeom prst="roundRect">
            <a:avLst>
              <a:gd name="adj" fmla="val 7273"/>
            </a:avLst>
          </a:prstGeom>
          <a:solidFill>
            <a:srgbClr val="FFFFFF"/>
          </a:solidFill>
          <a:ln w="0">
            <a:noFill/>
            <a:prstDash val="solid"/>
          </a:ln>
        </p:spPr>
      </p:sp>
      <p:sp>
        <p:nvSpPr>
          <p:cNvPr id="4" name="Rectangle 3">
            <a:extLst>
              <a:ext uri="{FF2B5EF4-FFF2-40B4-BE49-F238E27FC236}">
                <a16:creationId xmlns:a16="http://schemas.microsoft.com/office/drawing/2014/main" id="{0B0D2B00-AA61-455A-8ED0-EFAB2ABB8EEA}"/>
              </a:ext>
            </a:extLst>
          </p:cNvPr>
          <p:cNvSpPr>
            <a:spLocks noGrp="1"/>
          </p:cNvSpPr>
          <p:nvPr/>
        </p:nvSpPr>
        <p:spPr>
          <a:xfrm>
            <a:off x="952500" y="2914650"/>
            <a:ext cx="2667000" cy="304800"/>
          </a:xfrm>
          <a:prstGeom prst="rect">
            <a:avLst/>
          </a:prstGeom>
          <a:noFill/>
          <a:ln w="0">
            <a:noFill/>
            <a:prstDash val="solid"/>
          </a:ln>
        </p:spPr>
        <p:txBody>
          <a:bodyPr/>
          <a:lstStyle/>
          <a:p>
            <a:pPr algn="l">
              <a:defRPr sz="1500" b="1">
                <a:solidFill>
                  <a:srgbClr val="007C7A"/>
                </a:solidFill>
              </a:defRPr>
            </a:pPr>
            <a:r>
              <a:rPr sz="1500" b="1">
                <a:solidFill>
                  <a:srgbClr val="007C7A"/>
                </a:solidFill>
              </a:rPr>
              <a:t>Biggest challenge</a:t>
            </a:r>
          </a:p>
        </p:txBody>
      </p:sp>
      <p:sp>
        <p:nvSpPr>
          <p:cNvPr id="5" name="Rectangle 4">
            <a:extLst>
              <a:ext uri="{FF2B5EF4-FFF2-40B4-BE49-F238E27FC236}">
                <a16:creationId xmlns:a16="http://schemas.microsoft.com/office/drawing/2014/main" id="{C96BE133-A447-4236-8AFF-DDC5238117BE}"/>
              </a:ext>
            </a:extLst>
          </p:cNvPr>
          <p:cNvSpPr>
            <a:spLocks noGrp="1"/>
          </p:cNvSpPr>
          <p:nvPr/>
        </p:nvSpPr>
        <p:spPr>
          <a:xfrm>
            <a:off x="952500" y="3476625"/>
            <a:ext cx="2590800" cy="819150"/>
          </a:xfrm>
          <a:prstGeom prst="rect">
            <a:avLst/>
          </a:prstGeom>
          <a:noFill/>
          <a:ln w="0">
            <a:noFill/>
            <a:prstDash val="solid"/>
          </a:ln>
        </p:spPr>
        <p:txBody>
          <a:bodyPr/>
          <a:lstStyle/>
          <a:p>
            <a:pPr algn="l">
              <a:defRPr sz="1650" b="1">
                <a:solidFill>
                  <a:srgbClr val="102A43"/>
                </a:solidFill>
              </a:defRPr>
            </a:pPr>
            <a:r>
              <a:rPr sz="1650" b="1">
                <a:solidFill>
                  <a:srgbClr val="102A43"/>
                </a:solidFill>
              </a:rPr>
              <a:t>Keeping the cart correct across different pages.</a:t>
            </a:r>
          </a:p>
        </p:txBody>
      </p:sp>
      <p:sp>
        <p:nvSpPr>
          <p:cNvPr id="6" name="Rectangle: Rounded Corners 5">
            <a:extLst>
              <a:ext uri="{FF2B5EF4-FFF2-40B4-BE49-F238E27FC236}">
                <a16:creationId xmlns:a16="http://schemas.microsoft.com/office/drawing/2014/main" id="{025BD470-ABFC-4A49-A4DF-DECA772CB8FB}"/>
              </a:ext>
            </a:extLst>
          </p:cNvPr>
          <p:cNvSpPr>
            <a:spLocks noGrp="1"/>
          </p:cNvSpPr>
          <p:nvPr/>
        </p:nvSpPr>
        <p:spPr>
          <a:xfrm>
            <a:off x="4305300" y="2619375"/>
            <a:ext cx="3238500" cy="2095500"/>
          </a:xfrm>
          <a:prstGeom prst="roundRect">
            <a:avLst>
              <a:gd name="adj" fmla="val 7273"/>
            </a:avLst>
          </a:prstGeom>
          <a:solidFill>
            <a:srgbClr val="EAF7F5"/>
          </a:solidFill>
          <a:ln w="0">
            <a:noFill/>
            <a:prstDash val="solid"/>
          </a:ln>
        </p:spPr>
      </p:sp>
      <p:sp>
        <p:nvSpPr>
          <p:cNvPr id="7" name="Rectangle 6">
            <a:extLst>
              <a:ext uri="{FF2B5EF4-FFF2-40B4-BE49-F238E27FC236}">
                <a16:creationId xmlns:a16="http://schemas.microsoft.com/office/drawing/2014/main" id="{8B56FFEA-D621-40D5-A90E-4421DFA70BDB}"/>
              </a:ext>
            </a:extLst>
          </p:cNvPr>
          <p:cNvSpPr>
            <a:spLocks noGrp="1"/>
          </p:cNvSpPr>
          <p:nvPr/>
        </p:nvSpPr>
        <p:spPr>
          <a:xfrm>
            <a:off x="4572000" y="2914650"/>
            <a:ext cx="2667000" cy="304800"/>
          </a:xfrm>
          <a:prstGeom prst="rect">
            <a:avLst/>
          </a:prstGeom>
          <a:noFill/>
          <a:ln w="0">
            <a:noFill/>
            <a:prstDash val="solid"/>
          </a:ln>
        </p:spPr>
        <p:txBody>
          <a:bodyPr/>
          <a:lstStyle/>
          <a:p>
            <a:pPr algn="l">
              <a:defRPr sz="1500" b="1">
                <a:solidFill>
                  <a:srgbClr val="007C7A"/>
                </a:solidFill>
              </a:defRPr>
            </a:pPr>
            <a:r>
              <a:rPr sz="1500" b="1">
                <a:solidFill>
                  <a:srgbClr val="007C7A"/>
                </a:solidFill>
              </a:rPr>
              <a:t>My solution</a:t>
            </a:r>
          </a:p>
        </p:txBody>
      </p:sp>
      <p:sp>
        <p:nvSpPr>
          <p:cNvPr id="8" name="Rectangle 7">
            <a:extLst>
              <a:ext uri="{FF2B5EF4-FFF2-40B4-BE49-F238E27FC236}">
                <a16:creationId xmlns:a16="http://schemas.microsoft.com/office/drawing/2014/main" id="{F9486326-C713-40A8-9A57-AE36BBC7DDD1}"/>
              </a:ext>
            </a:extLst>
          </p:cNvPr>
          <p:cNvSpPr>
            <a:spLocks noGrp="1"/>
          </p:cNvSpPr>
          <p:nvPr/>
        </p:nvSpPr>
        <p:spPr>
          <a:xfrm>
            <a:off x="4572000" y="3476625"/>
            <a:ext cx="2590800" cy="819150"/>
          </a:xfrm>
          <a:prstGeom prst="rect">
            <a:avLst/>
          </a:prstGeom>
          <a:noFill/>
          <a:ln w="0">
            <a:noFill/>
            <a:prstDash val="solid"/>
          </a:ln>
        </p:spPr>
        <p:txBody>
          <a:bodyPr/>
          <a:lstStyle/>
          <a:p>
            <a:pPr algn="l">
              <a:defRPr sz="1650" b="1">
                <a:solidFill>
                  <a:srgbClr val="102A43"/>
                </a:solidFill>
              </a:defRPr>
            </a:pPr>
            <a:r>
              <a:rPr sz="1650" b="1">
                <a:solidFill>
                  <a:srgbClr val="102A43"/>
                </a:solidFill>
              </a:rPr>
              <a:t>One localStorage cart and small reusable functions.</a:t>
            </a:r>
          </a:p>
        </p:txBody>
      </p:sp>
      <p:sp>
        <p:nvSpPr>
          <p:cNvPr id="9" name="Rectangle: Rounded Corners 8">
            <a:extLst>
              <a:ext uri="{FF2B5EF4-FFF2-40B4-BE49-F238E27FC236}">
                <a16:creationId xmlns:a16="http://schemas.microsoft.com/office/drawing/2014/main" id="{B55FD2C5-C822-40E2-888B-77BEEF9886AC}"/>
              </a:ext>
            </a:extLst>
          </p:cNvPr>
          <p:cNvSpPr>
            <a:spLocks noGrp="1"/>
          </p:cNvSpPr>
          <p:nvPr/>
        </p:nvSpPr>
        <p:spPr>
          <a:xfrm>
            <a:off x="7924800" y="2619375"/>
            <a:ext cx="3238500" cy="2095500"/>
          </a:xfrm>
          <a:prstGeom prst="roundRect">
            <a:avLst>
              <a:gd name="adj" fmla="val 7273"/>
            </a:avLst>
          </a:prstGeom>
          <a:solidFill>
            <a:srgbClr val="F06C5B"/>
          </a:solidFill>
          <a:ln w="0">
            <a:noFill/>
            <a:prstDash val="solid"/>
          </a:ln>
        </p:spPr>
      </p:sp>
      <p:sp>
        <p:nvSpPr>
          <p:cNvPr id="10" name="Rectangle 9">
            <a:extLst>
              <a:ext uri="{FF2B5EF4-FFF2-40B4-BE49-F238E27FC236}">
                <a16:creationId xmlns:a16="http://schemas.microsoft.com/office/drawing/2014/main" id="{689216BA-7F9F-4F6D-A631-6AE7D2804B95}"/>
              </a:ext>
            </a:extLst>
          </p:cNvPr>
          <p:cNvSpPr>
            <a:spLocks noGrp="1"/>
          </p:cNvSpPr>
          <p:nvPr/>
        </p:nvSpPr>
        <p:spPr>
          <a:xfrm>
            <a:off x="8191500" y="2914650"/>
            <a:ext cx="2667000" cy="304800"/>
          </a:xfrm>
          <a:prstGeom prst="rect">
            <a:avLst/>
          </a:prstGeom>
          <a:noFill/>
          <a:ln w="0">
            <a:noFill/>
            <a:prstDash val="solid"/>
          </a:ln>
        </p:spPr>
        <p:txBody>
          <a:bodyPr/>
          <a:lstStyle/>
          <a:p>
            <a:pPr algn="l">
              <a:defRPr sz="1500" b="1">
                <a:solidFill>
                  <a:srgbClr val="FFFFFF"/>
                </a:solidFill>
              </a:defRPr>
            </a:pPr>
            <a:r>
              <a:rPr sz="1500" b="1">
                <a:solidFill>
                  <a:srgbClr val="FFFFFF"/>
                </a:solidFill>
              </a:rPr>
              <a:t>Next step</a:t>
            </a:r>
          </a:p>
        </p:txBody>
      </p:sp>
      <p:sp>
        <p:nvSpPr>
          <p:cNvPr id="11" name="Rectangle 10">
            <a:extLst>
              <a:ext uri="{FF2B5EF4-FFF2-40B4-BE49-F238E27FC236}">
                <a16:creationId xmlns:a16="http://schemas.microsoft.com/office/drawing/2014/main" id="{5C4D2ED7-469B-418C-B78F-3B7D04220C2E}"/>
              </a:ext>
            </a:extLst>
          </p:cNvPr>
          <p:cNvSpPr>
            <a:spLocks noGrp="1"/>
          </p:cNvSpPr>
          <p:nvPr/>
        </p:nvSpPr>
        <p:spPr>
          <a:xfrm>
            <a:off x="8191500" y="3476625"/>
            <a:ext cx="2590800" cy="819150"/>
          </a:xfrm>
          <a:prstGeom prst="rect">
            <a:avLst/>
          </a:prstGeom>
          <a:noFill/>
          <a:ln w="0">
            <a:noFill/>
            <a:prstDash val="solid"/>
          </a:ln>
        </p:spPr>
        <p:txBody>
          <a:bodyPr/>
          <a:lstStyle/>
          <a:p>
            <a:pPr algn="l">
              <a:defRPr sz="1650" b="1">
                <a:solidFill>
                  <a:srgbClr val="FFFFFF"/>
                </a:solidFill>
              </a:defRPr>
            </a:pPr>
            <a:r>
              <a:rPr sz="1650" b="1">
                <a:solidFill>
                  <a:srgbClr val="FFFFFF"/>
                </a:solidFill>
              </a:rPr>
              <a:t>A real database, login and secure payment system.</a:t>
            </a:r>
          </a:p>
        </p:txBody>
      </p:sp>
      <p:sp>
        <p:nvSpPr>
          <p:cNvPr id="12" name="Rectangle 11">
            <a:extLst>
              <a:ext uri="{FF2B5EF4-FFF2-40B4-BE49-F238E27FC236}">
                <a16:creationId xmlns:a16="http://schemas.microsoft.com/office/drawing/2014/main" id="{AEE3EB05-7225-4CC5-A922-035B8A0B2AE3}"/>
              </a:ext>
            </a:extLst>
          </p:cNvPr>
          <p:cNvSpPr>
            <a:spLocks noGrp="1"/>
          </p:cNvSpPr>
          <p:nvPr/>
        </p:nvSpPr>
        <p:spPr>
          <a:xfrm>
            <a:off x="685800" y="5429250"/>
            <a:ext cx="10458450" cy="457200"/>
          </a:xfrm>
          <a:prstGeom prst="rect">
            <a:avLst/>
          </a:prstGeom>
          <a:noFill/>
          <a:ln w="0">
            <a:noFill/>
            <a:prstDash val="solid"/>
          </a:ln>
        </p:spPr>
        <p:txBody>
          <a:bodyPr/>
          <a:lstStyle/>
          <a:p>
            <a:pPr algn="ctr">
              <a:defRPr sz="1800" b="1">
                <a:solidFill>
                  <a:srgbClr val="D9EAF0"/>
                </a:solidFill>
              </a:defRPr>
            </a:pPr>
            <a:r>
              <a:rPr sz="1800" b="1">
                <a:solidFill>
                  <a:srgbClr val="D9EAF0"/>
                </a:solidFill>
              </a:rPr>
              <a:t>NovaVolt meets the required front-end customer journey—and I can explain how it works.</a:t>
            </a:r>
          </a:p>
        </p:txBody>
      </p:sp>
    </p:spTree>
    <p:extLst>
      <p:ext uri="{BB962C8B-B14F-4D97-AF65-F5344CB8AC3E}">
        <p14:creationId xmlns:p14="http://schemas.microsoft.com/office/powerpoint/2010/main" val="152778805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animEffect transition="in" filter="fade">
                                <p:cBhvr>
                                  <p:cTn id="5" dur="500" fill="hold"/>
                                  <p:tgtEl>
                                    <p:spTgt spid="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1425</Words>
  <Application>Microsoft Office PowerPoint</Application>
  <DocSecurity>0</DocSecurity>
  <PresentationFormat>Widescreen</PresentationFormat>
  <Paragraphs>212</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Farhan Acram</cp:lastModifiedBy>
  <cp:revision>1</cp:revision>
  <dcterms:created xsi:type="dcterms:W3CDTF">2026-07-29T11:35:44Z</dcterms:created>
  <dcterms:modified xsi:type="dcterms:W3CDTF">2026-07-30T14:12:21Z</dcterms:modified>
</cp:coreProperties>
</file>